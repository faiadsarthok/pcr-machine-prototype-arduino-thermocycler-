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56" r:id="rId2"/>
    <p:sldId id="257" r:id="rId3"/>
    <p:sldId id="258" r:id="rId4"/>
    <p:sldId id="259" r:id="rId5"/>
    <p:sldId id="278" r:id="rId6"/>
    <p:sldId id="260" r:id="rId7"/>
    <p:sldId id="279" r:id="rId8"/>
    <p:sldId id="280" r:id="rId9"/>
    <p:sldId id="281" r:id="rId10"/>
    <p:sldId id="282" r:id="rId11"/>
    <p:sldId id="261" r:id="rId12"/>
    <p:sldId id="263" r:id="rId13"/>
    <p:sldId id="264" r:id="rId14"/>
    <p:sldId id="265" r:id="rId15"/>
    <p:sldId id="266" r:id="rId16"/>
    <p:sldId id="267" r:id="rId17"/>
    <p:sldId id="268" r:id="rId18"/>
    <p:sldId id="269" r:id="rId19"/>
    <p:sldId id="283" r:id="rId20"/>
    <p:sldId id="284" r:id="rId21"/>
    <p:sldId id="270" r:id="rId22"/>
    <p:sldId id="271" r:id="rId23"/>
    <p:sldId id="272" r:id="rId24"/>
    <p:sldId id="285" r:id="rId25"/>
    <p:sldId id="286" r:id="rId26"/>
    <p:sldId id="273" r:id="rId27"/>
    <p:sldId id="274" r:id="rId28"/>
    <p:sldId id="275" r:id="rId29"/>
    <p:sldId id="276" r:id="rId30"/>
    <p:sldId id="277" r:id="rId31"/>
  </p:sldIdLst>
  <p:sldSz cx="12192000" cy="6858000"/>
  <p:notesSz cx="6797675" cy="9926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8" d="100"/>
          <a:sy n="88" d="100"/>
        </p:scale>
        <p:origin x="46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1DE1E8E7-F4D2-457D-904C-B8B1F4D1AAAA}" type="datetimeFigureOut">
              <a:rPr lang="en-US" smtClean="0"/>
              <a:t>3/5/2026</a:t>
            </a:fld>
            <a:endParaRPr lang="en-US"/>
          </a:p>
        </p:txBody>
      </p:sp>
      <p:sp>
        <p:nvSpPr>
          <p:cNvPr id="4" name="Slide Image Placeholder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3627C445-C0CC-4382-9D8A-77F42F7DCABF}" type="slidenum">
              <a:rPr lang="en-US" smtClean="0"/>
              <a:t>‹#›</a:t>
            </a:fld>
            <a:endParaRPr lang="en-US"/>
          </a:p>
        </p:txBody>
      </p:sp>
    </p:spTree>
    <p:extLst>
      <p:ext uri="{BB962C8B-B14F-4D97-AF65-F5344CB8AC3E}">
        <p14:creationId xmlns:p14="http://schemas.microsoft.com/office/powerpoint/2010/main" val="155533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903F66C-7E73-250D-5A0E-BC2984C4590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56417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a:extLst>
              <a:ext uri="{FF2B5EF4-FFF2-40B4-BE49-F238E27FC236}">
                <a16:creationId xmlns:a16="http://schemas.microsoft.com/office/drawing/2014/main" id="{D47F019A-9517-0DFF-CE40-F0F1305C61BD}"/>
              </a:ext>
            </a:extLst>
          </p:cNvPr>
          <p:cNvSpPr>
            <a:spLocks noGrp="1"/>
          </p:cNvSpPr>
          <p:nvPr>
            <p:ph type="title"/>
          </p:nvPr>
        </p:nvSpPr>
        <p:spPr/>
        <p:txBody>
          <a:bodyPr/>
          <a:lstStyle>
            <a:lvl1pPr>
              <a:defRPr b="1"/>
            </a:lvl1pPr>
          </a:lstStyle>
          <a:p>
            <a:r>
              <a:rPr lang="en-US" dirty="0"/>
              <a:t>Click to edit Master title style</a:t>
            </a:r>
          </a:p>
        </p:txBody>
      </p:sp>
      <p:sp>
        <p:nvSpPr>
          <p:cNvPr id="8" name="Date Placeholder 7">
            <a:extLst>
              <a:ext uri="{FF2B5EF4-FFF2-40B4-BE49-F238E27FC236}">
                <a16:creationId xmlns:a16="http://schemas.microsoft.com/office/drawing/2014/main" id="{0F5DF581-3B86-9C91-59B9-772B1ED9F5E4}"/>
              </a:ext>
            </a:extLst>
          </p:cNvPr>
          <p:cNvSpPr>
            <a:spLocks noGrp="1"/>
          </p:cNvSpPr>
          <p:nvPr>
            <p:ph type="dt" sz="half" idx="10"/>
          </p:nvPr>
        </p:nvSpPr>
        <p:spPr>
          <a:xfrm>
            <a:off x="838199" y="6356350"/>
            <a:ext cx="2948709" cy="365125"/>
          </a:xfrm>
          <a:prstGeom prst="rect">
            <a:avLst/>
          </a:prstGeom>
        </p:spPr>
        <p:txBody>
          <a:bodyPr/>
          <a:lstStyle/>
          <a:p>
            <a:r>
              <a:rPr lang="en-US" dirty="0"/>
              <a:t>EEE 4518 – Final Project – Cor Machina</a:t>
            </a:r>
          </a:p>
        </p:txBody>
      </p:sp>
      <p:sp>
        <p:nvSpPr>
          <p:cNvPr id="9" name="Footer Placeholder 8">
            <a:extLst>
              <a:ext uri="{FF2B5EF4-FFF2-40B4-BE49-F238E27FC236}">
                <a16:creationId xmlns:a16="http://schemas.microsoft.com/office/drawing/2014/main" id="{5C11723E-5918-7E77-4B4D-A1C56FFF705B}"/>
              </a:ext>
            </a:extLst>
          </p:cNvPr>
          <p:cNvSpPr>
            <a:spLocks noGrp="1"/>
          </p:cNvSpPr>
          <p:nvPr>
            <p:ph type="ftr" sz="quarter" idx="11"/>
          </p:nvPr>
        </p:nvSpPr>
        <p:spPr>
          <a:xfrm>
            <a:off x="4038600" y="6356350"/>
            <a:ext cx="4114800" cy="365125"/>
          </a:xfrm>
          <a:prstGeom prst="rect">
            <a:avLst/>
          </a:prstGeom>
        </p:spPr>
        <p:txBody>
          <a:bodyPr/>
          <a:lstStyle/>
          <a:p>
            <a:r>
              <a:rPr lang="en-US" dirty="0"/>
              <a:t>Presented By – </a:t>
            </a:r>
            <a:r>
              <a:rPr lang="en-US" dirty="0">
                <a:solidFill>
                  <a:srgbClr val="FFFF00"/>
                </a:solidFill>
              </a:rPr>
              <a:t>220021308</a:t>
            </a:r>
            <a:endParaRPr lang="en-US" sz="2400" dirty="0">
              <a:solidFill>
                <a:srgbClr val="FFFF00"/>
              </a:solidFill>
            </a:endParaRPr>
          </a:p>
        </p:txBody>
      </p:sp>
      <p:sp>
        <p:nvSpPr>
          <p:cNvPr id="10" name="Slide Number Placeholder 9">
            <a:extLst>
              <a:ext uri="{FF2B5EF4-FFF2-40B4-BE49-F238E27FC236}">
                <a16:creationId xmlns:a16="http://schemas.microsoft.com/office/drawing/2014/main" id="{8E633298-A04F-CD29-C650-5DDFB8C3FE4E}"/>
              </a:ext>
            </a:extLst>
          </p:cNvPr>
          <p:cNvSpPr>
            <a:spLocks noGrp="1"/>
          </p:cNvSpPr>
          <p:nvPr>
            <p:ph type="sldNum" sz="quarter" idx="12"/>
          </p:nvPr>
        </p:nvSpPr>
        <p:spPr>
          <a:xfrm>
            <a:off x="8610600" y="6356350"/>
            <a:ext cx="2743200" cy="365125"/>
          </a:xfrm>
          <a:prstGeom prst="rect">
            <a:avLst/>
          </a:prstGeom>
        </p:spPr>
        <p:txBody>
          <a:bodyPr/>
          <a:lstStyle/>
          <a:p>
            <a:fld id="{1DCA6118-F558-4478-80BF-767359AFE687}" type="slidenum">
              <a:rPr lang="en-US" smtClean="0"/>
              <a:t>‹#›</a:t>
            </a:fld>
            <a:endParaRPr lang="en-US"/>
          </a:p>
        </p:txBody>
      </p:sp>
    </p:spTree>
    <p:extLst>
      <p:ext uri="{BB962C8B-B14F-4D97-AF65-F5344CB8AC3E}">
        <p14:creationId xmlns:p14="http://schemas.microsoft.com/office/powerpoint/2010/main" val="1163404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3">
            <a:extLst>
              <a:ext uri="{FF2B5EF4-FFF2-40B4-BE49-F238E27FC236}">
                <a16:creationId xmlns:a16="http://schemas.microsoft.com/office/drawing/2014/main" id="{81C98149-685A-B7B2-6700-A245CB7FE33A}"/>
              </a:ext>
            </a:extLst>
          </p:cNvPr>
          <p:cNvSpPr>
            <a:spLocks noGrp="1"/>
          </p:cNvSpPr>
          <p:nvPr>
            <p:ph type="dt" sz="half" idx="2"/>
          </p:nvPr>
        </p:nvSpPr>
        <p:spPr>
          <a:xfrm>
            <a:off x="838199" y="6356350"/>
            <a:ext cx="2948709" cy="365125"/>
          </a:xfrm>
          <a:prstGeom prst="rect">
            <a:avLst/>
          </a:prstGeom>
        </p:spPr>
        <p:txBody>
          <a:bodyPr vert="horz" lIns="91440" tIns="45720" rIns="91440" bIns="45720" rtlCol="0" anchor="ctr"/>
          <a:lstStyle>
            <a:lvl1pPr algn="l">
              <a:defRPr sz="1400">
                <a:solidFill>
                  <a:schemeClr val="tx1">
                    <a:tint val="75000"/>
                  </a:schemeClr>
                </a:solidFill>
              </a:defRPr>
            </a:lvl1pPr>
          </a:lstStyle>
          <a:p>
            <a:r>
              <a:rPr lang="en-US" dirty="0"/>
              <a:t>EEE 4518 – Final Project – Cor Machina</a:t>
            </a:r>
          </a:p>
        </p:txBody>
      </p:sp>
      <p:sp>
        <p:nvSpPr>
          <p:cNvPr id="11" name="Footer Placeholder 4">
            <a:extLst>
              <a:ext uri="{FF2B5EF4-FFF2-40B4-BE49-F238E27FC236}">
                <a16:creationId xmlns:a16="http://schemas.microsoft.com/office/drawing/2014/main" id="{FAF762A3-912D-F8AC-34F1-3594900FA4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b="1">
                <a:solidFill>
                  <a:schemeClr val="tx1">
                    <a:tint val="75000"/>
                  </a:schemeClr>
                </a:solidFill>
              </a:defRPr>
            </a:lvl1pPr>
          </a:lstStyle>
          <a:p>
            <a:r>
              <a:rPr lang="en-US" dirty="0"/>
              <a:t>Presented By – </a:t>
            </a:r>
            <a:r>
              <a:rPr lang="en-US" dirty="0">
                <a:solidFill>
                  <a:srgbClr val="FFFF00"/>
                </a:solidFill>
              </a:rPr>
              <a:t>220021308</a:t>
            </a:r>
            <a:endParaRPr lang="en-US" sz="2400" dirty="0">
              <a:solidFill>
                <a:srgbClr val="FFFF00"/>
              </a:solidFill>
            </a:endParaRPr>
          </a:p>
        </p:txBody>
      </p:sp>
      <p:sp>
        <p:nvSpPr>
          <p:cNvPr id="12" name="Slide Number Placeholder 5">
            <a:extLst>
              <a:ext uri="{FF2B5EF4-FFF2-40B4-BE49-F238E27FC236}">
                <a16:creationId xmlns:a16="http://schemas.microsoft.com/office/drawing/2014/main" id="{CEA0BB1E-D240-8926-DE7D-247D8F4A3B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CA6118-F558-4478-80BF-767359AFE687}" type="slidenum">
              <a:rPr lang="en-US" smtClean="0"/>
              <a:t>‹#›</a:t>
            </a:fld>
            <a:endParaRPr lang="en-US"/>
          </a:p>
        </p:txBody>
      </p:sp>
    </p:spTree>
    <p:extLst>
      <p:ext uri="{BB962C8B-B14F-4D97-AF65-F5344CB8AC3E}">
        <p14:creationId xmlns:p14="http://schemas.microsoft.com/office/powerpoint/2010/main" val="1661727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3">
            <a:extLst>
              <a:ext uri="{FF2B5EF4-FFF2-40B4-BE49-F238E27FC236}">
                <a16:creationId xmlns:a16="http://schemas.microsoft.com/office/drawing/2014/main" id="{EADE58D3-0D7F-0267-7D7F-5D1D4A8A169C}"/>
              </a:ext>
            </a:extLst>
          </p:cNvPr>
          <p:cNvSpPr>
            <a:spLocks noGrp="1"/>
          </p:cNvSpPr>
          <p:nvPr>
            <p:ph type="dt" sz="half" idx="10"/>
          </p:nvPr>
        </p:nvSpPr>
        <p:spPr>
          <a:xfrm>
            <a:off x="838199" y="6356350"/>
            <a:ext cx="2948709" cy="365125"/>
          </a:xfrm>
          <a:prstGeom prst="rect">
            <a:avLst/>
          </a:prstGeom>
        </p:spPr>
        <p:txBody>
          <a:bodyPr vert="horz" lIns="91440" tIns="45720" rIns="91440" bIns="45720" rtlCol="0" anchor="ctr"/>
          <a:lstStyle>
            <a:lvl1pPr algn="l">
              <a:defRPr sz="1400">
                <a:solidFill>
                  <a:schemeClr val="tx1">
                    <a:tint val="75000"/>
                  </a:schemeClr>
                </a:solidFill>
              </a:defRPr>
            </a:lvl1pPr>
          </a:lstStyle>
          <a:p>
            <a:r>
              <a:rPr lang="en-US" dirty="0"/>
              <a:t>EEE 4518 – Final Project – Cor Machina</a:t>
            </a:r>
          </a:p>
        </p:txBody>
      </p:sp>
      <p:sp>
        <p:nvSpPr>
          <p:cNvPr id="9" name="Footer Placeholder 4">
            <a:extLst>
              <a:ext uri="{FF2B5EF4-FFF2-40B4-BE49-F238E27FC236}">
                <a16:creationId xmlns:a16="http://schemas.microsoft.com/office/drawing/2014/main" id="{D348698C-94BD-13DA-5753-4C42700146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b="1">
                <a:solidFill>
                  <a:schemeClr val="tx1">
                    <a:tint val="75000"/>
                  </a:schemeClr>
                </a:solidFill>
              </a:defRPr>
            </a:lvl1pPr>
          </a:lstStyle>
          <a:p>
            <a:r>
              <a:rPr lang="en-US" dirty="0"/>
              <a:t>Presented By – </a:t>
            </a:r>
            <a:r>
              <a:rPr lang="en-US" dirty="0">
                <a:solidFill>
                  <a:srgbClr val="FFFF00"/>
                </a:solidFill>
              </a:rPr>
              <a:t>220021308</a:t>
            </a:r>
            <a:endParaRPr lang="en-US" sz="2400" dirty="0">
              <a:solidFill>
                <a:srgbClr val="FFFF00"/>
              </a:solidFill>
            </a:endParaRPr>
          </a:p>
        </p:txBody>
      </p:sp>
      <p:sp>
        <p:nvSpPr>
          <p:cNvPr id="10" name="Slide Number Placeholder 5">
            <a:extLst>
              <a:ext uri="{FF2B5EF4-FFF2-40B4-BE49-F238E27FC236}">
                <a16:creationId xmlns:a16="http://schemas.microsoft.com/office/drawing/2014/main" id="{D7F08D61-A275-2ED8-0CA1-FE7AB05F80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CA6118-F558-4478-80BF-767359AFE687}" type="slidenum">
              <a:rPr lang="en-US" smtClean="0"/>
              <a:t>‹#›</a:t>
            </a:fld>
            <a:endParaRPr lang="en-US"/>
          </a:p>
        </p:txBody>
      </p:sp>
    </p:spTree>
    <p:extLst>
      <p:ext uri="{BB962C8B-B14F-4D97-AF65-F5344CB8AC3E}">
        <p14:creationId xmlns:p14="http://schemas.microsoft.com/office/powerpoint/2010/main" val="3627581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a:extLst>
              <a:ext uri="{FF2B5EF4-FFF2-40B4-BE49-F238E27FC236}">
                <a16:creationId xmlns:a16="http://schemas.microsoft.com/office/drawing/2014/main" id="{88312E70-0BD6-260B-7FA7-C0952AFDF3B2}"/>
              </a:ext>
            </a:extLst>
          </p:cNvPr>
          <p:cNvSpPr>
            <a:spLocks noGrp="1"/>
          </p:cNvSpPr>
          <p:nvPr>
            <p:ph type="dt" sz="half" idx="10"/>
          </p:nvPr>
        </p:nvSpPr>
        <p:spPr>
          <a:xfrm>
            <a:off x="838199" y="6356350"/>
            <a:ext cx="2948709" cy="365125"/>
          </a:xfrm>
          <a:prstGeom prst="rect">
            <a:avLst/>
          </a:prstGeom>
        </p:spPr>
        <p:txBody>
          <a:bodyPr vert="horz" lIns="91440" tIns="45720" rIns="91440" bIns="45720" rtlCol="0" anchor="ctr"/>
          <a:lstStyle>
            <a:lvl1pPr algn="l">
              <a:defRPr sz="1400">
                <a:solidFill>
                  <a:schemeClr val="tx1">
                    <a:tint val="75000"/>
                  </a:schemeClr>
                </a:solidFill>
              </a:defRPr>
            </a:lvl1pPr>
          </a:lstStyle>
          <a:p>
            <a:r>
              <a:rPr lang="en-US" dirty="0"/>
              <a:t>EEE 4518 – Final Project – Cor Machina</a:t>
            </a:r>
          </a:p>
        </p:txBody>
      </p:sp>
      <p:sp>
        <p:nvSpPr>
          <p:cNvPr id="11" name="Footer Placeholder 4">
            <a:extLst>
              <a:ext uri="{FF2B5EF4-FFF2-40B4-BE49-F238E27FC236}">
                <a16:creationId xmlns:a16="http://schemas.microsoft.com/office/drawing/2014/main" id="{DDD436B0-2561-22FF-FFFC-773B4928831D}"/>
              </a:ext>
            </a:extLst>
          </p:cNvP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lvl1pPr algn="ctr">
              <a:defRPr sz="1600" b="1">
                <a:solidFill>
                  <a:schemeClr val="tx1">
                    <a:tint val="75000"/>
                  </a:schemeClr>
                </a:solidFill>
              </a:defRPr>
            </a:lvl1pPr>
          </a:lstStyle>
          <a:p>
            <a:r>
              <a:rPr lang="en-US" dirty="0"/>
              <a:t>Presented By – </a:t>
            </a:r>
            <a:r>
              <a:rPr lang="en-US" dirty="0">
                <a:solidFill>
                  <a:srgbClr val="FFFF00"/>
                </a:solidFill>
              </a:rPr>
              <a:t>220021308</a:t>
            </a:r>
            <a:endParaRPr lang="en-US" sz="2400" dirty="0">
              <a:solidFill>
                <a:srgbClr val="FFFF00"/>
              </a:solidFill>
            </a:endParaRPr>
          </a:p>
        </p:txBody>
      </p:sp>
      <p:sp>
        <p:nvSpPr>
          <p:cNvPr id="12" name="Slide Number Placeholder 5">
            <a:extLst>
              <a:ext uri="{FF2B5EF4-FFF2-40B4-BE49-F238E27FC236}">
                <a16:creationId xmlns:a16="http://schemas.microsoft.com/office/drawing/2014/main" id="{4DBBC50B-7270-39EB-A947-BF8586DDF9FA}"/>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CA6118-F558-4478-80BF-767359AFE687}" type="slidenum">
              <a:rPr lang="en-US" smtClean="0"/>
              <a:t>‹#›</a:t>
            </a:fld>
            <a:endParaRPr lang="en-US"/>
          </a:p>
        </p:txBody>
      </p:sp>
    </p:spTree>
    <p:extLst>
      <p:ext uri="{BB962C8B-B14F-4D97-AF65-F5344CB8AC3E}">
        <p14:creationId xmlns:p14="http://schemas.microsoft.com/office/powerpoint/2010/main" val="675150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3">
            <a:extLst>
              <a:ext uri="{FF2B5EF4-FFF2-40B4-BE49-F238E27FC236}">
                <a16:creationId xmlns:a16="http://schemas.microsoft.com/office/drawing/2014/main" id="{6A155866-0C56-335A-A43F-552E92867ED1}"/>
              </a:ext>
            </a:extLst>
          </p:cNvPr>
          <p:cNvSpPr>
            <a:spLocks noGrp="1"/>
          </p:cNvSpPr>
          <p:nvPr>
            <p:ph type="dt" sz="half" idx="2"/>
          </p:nvPr>
        </p:nvSpPr>
        <p:spPr>
          <a:xfrm>
            <a:off x="838199" y="6356350"/>
            <a:ext cx="2948709" cy="365125"/>
          </a:xfrm>
          <a:prstGeom prst="rect">
            <a:avLst/>
          </a:prstGeom>
        </p:spPr>
        <p:txBody>
          <a:bodyPr vert="horz" lIns="91440" tIns="45720" rIns="91440" bIns="45720" rtlCol="0" anchor="ctr"/>
          <a:lstStyle>
            <a:lvl1pPr algn="l">
              <a:defRPr sz="1400">
                <a:solidFill>
                  <a:schemeClr val="tx1">
                    <a:tint val="75000"/>
                  </a:schemeClr>
                </a:solidFill>
              </a:defRPr>
            </a:lvl1pPr>
          </a:lstStyle>
          <a:p>
            <a:r>
              <a:rPr lang="en-US" dirty="0"/>
              <a:t>EEE 4518 – Final Project – Cor Machina</a:t>
            </a:r>
          </a:p>
        </p:txBody>
      </p:sp>
      <p:sp>
        <p:nvSpPr>
          <p:cNvPr id="7" name="Footer Placeholder 4">
            <a:extLst>
              <a:ext uri="{FF2B5EF4-FFF2-40B4-BE49-F238E27FC236}">
                <a16:creationId xmlns:a16="http://schemas.microsoft.com/office/drawing/2014/main" id="{3F20E15C-DA0C-9CDA-A363-2E637D5DC2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b="1">
                <a:solidFill>
                  <a:schemeClr val="tx1">
                    <a:tint val="75000"/>
                  </a:schemeClr>
                </a:solidFill>
              </a:defRPr>
            </a:lvl1pPr>
          </a:lstStyle>
          <a:p>
            <a:r>
              <a:rPr lang="en-US" dirty="0"/>
              <a:t>Presented By – </a:t>
            </a:r>
            <a:r>
              <a:rPr lang="en-US" dirty="0">
                <a:solidFill>
                  <a:srgbClr val="FFFF00"/>
                </a:solidFill>
              </a:rPr>
              <a:t>220021308</a:t>
            </a:r>
            <a:endParaRPr lang="en-US" sz="2400" dirty="0">
              <a:solidFill>
                <a:srgbClr val="FFFF00"/>
              </a:solidFill>
            </a:endParaRPr>
          </a:p>
        </p:txBody>
      </p:sp>
      <p:sp>
        <p:nvSpPr>
          <p:cNvPr id="8" name="Slide Number Placeholder 5">
            <a:extLst>
              <a:ext uri="{FF2B5EF4-FFF2-40B4-BE49-F238E27FC236}">
                <a16:creationId xmlns:a16="http://schemas.microsoft.com/office/drawing/2014/main" id="{C77E9E95-0EC3-BAB4-3089-48858720D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CA6118-F558-4478-80BF-767359AFE687}" type="slidenum">
              <a:rPr lang="en-US" smtClean="0"/>
              <a:t>‹#›</a:t>
            </a:fld>
            <a:endParaRPr lang="en-US"/>
          </a:p>
        </p:txBody>
      </p:sp>
    </p:spTree>
    <p:extLst>
      <p:ext uri="{BB962C8B-B14F-4D97-AF65-F5344CB8AC3E}">
        <p14:creationId xmlns:p14="http://schemas.microsoft.com/office/powerpoint/2010/main" val="2232609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C726FDD6-4286-2D20-ACFA-B4418A369600}"/>
              </a:ext>
            </a:extLst>
          </p:cNvPr>
          <p:cNvSpPr>
            <a:spLocks noGrp="1"/>
          </p:cNvSpPr>
          <p:nvPr>
            <p:ph type="dt" sz="half" idx="2"/>
          </p:nvPr>
        </p:nvSpPr>
        <p:spPr>
          <a:xfrm>
            <a:off x="838199" y="6356350"/>
            <a:ext cx="2948709" cy="365125"/>
          </a:xfrm>
          <a:prstGeom prst="rect">
            <a:avLst/>
          </a:prstGeom>
        </p:spPr>
        <p:txBody>
          <a:bodyPr vert="horz" lIns="91440" tIns="45720" rIns="91440" bIns="45720" rtlCol="0" anchor="ctr"/>
          <a:lstStyle>
            <a:lvl1pPr algn="l">
              <a:defRPr sz="1400">
                <a:solidFill>
                  <a:schemeClr val="tx1">
                    <a:tint val="75000"/>
                  </a:schemeClr>
                </a:solidFill>
              </a:defRPr>
            </a:lvl1pPr>
          </a:lstStyle>
          <a:p>
            <a:r>
              <a:rPr lang="en-US" dirty="0"/>
              <a:t>EEE 4518 – Final Project – Cor Machina</a:t>
            </a:r>
          </a:p>
        </p:txBody>
      </p:sp>
      <p:sp>
        <p:nvSpPr>
          <p:cNvPr id="6" name="Footer Placeholder 4">
            <a:extLst>
              <a:ext uri="{FF2B5EF4-FFF2-40B4-BE49-F238E27FC236}">
                <a16:creationId xmlns:a16="http://schemas.microsoft.com/office/drawing/2014/main" id="{D4E50DE8-0BBA-DE98-BE64-B146E95C20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b="1">
                <a:solidFill>
                  <a:schemeClr val="tx1">
                    <a:tint val="75000"/>
                  </a:schemeClr>
                </a:solidFill>
              </a:defRPr>
            </a:lvl1pPr>
          </a:lstStyle>
          <a:p>
            <a:r>
              <a:rPr lang="en-US" dirty="0"/>
              <a:t>Presented By – </a:t>
            </a:r>
            <a:r>
              <a:rPr lang="en-US" dirty="0">
                <a:solidFill>
                  <a:srgbClr val="FFFF00"/>
                </a:solidFill>
              </a:rPr>
              <a:t>220021308</a:t>
            </a:r>
            <a:endParaRPr lang="en-US" sz="2400" dirty="0">
              <a:solidFill>
                <a:srgbClr val="FFFF00"/>
              </a:solidFill>
            </a:endParaRPr>
          </a:p>
        </p:txBody>
      </p:sp>
      <p:sp>
        <p:nvSpPr>
          <p:cNvPr id="7" name="Slide Number Placeholder 5">
            <a:extLst>
              <a:ext uri="{FF2B5EF4-FFF2-40B4-BE49-F238E27FC236}">
                <a16:creationId xmlns:a16="http://schemas.microsoft.com/office/drawing/2014/main" id="{F9DD7B48-9295-192F-826D-2E67098FDF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CA6118-F558-4478-80BF-767359AFE687}" type="slidenum">
              <a:rPr lang="en-US" smtClean="0"/>
              <a:t>‹#›</a:t>
            </a:fld>
            <a:endParaRPr lang="en-US"/>
          </a:p>
        </p:txBody>
      </p:sp>
    </p:spTree>
    <p:extLst>
      <p:ext uri="{BB962C8B-B14F-4D97-AF65-F5344CB8AC3E}">
        <p14:creationId xmlns:p14="http://schemas.microsoft.com/office/powerpoint/2010/main" val="798798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3">
            <a:extLst>
              <a:ext uri="{FF2B5EF4-FFF2-40B4-BE49-F238E27FC236}">
                <a16:creationId xmlns:a16="http://schemas.microsoft.com/office/drawing/2014/main" id="{DC9B5B6C-0144-77D1-329B-8614F5D4ED45}"/>
              </a:ext>
            </a:extLst>
          </p:cNvPr>
          <p:cNvSpPr>
            <a:spLocks noGrp="1"/>
          </p:cNvSpPr>
          <p:nvPr>
            <p:ph type="dt" sz="half" idx="10"/>
          </p:nvPr>
        </p:nvSpPr>
        <p:spPr>
          <a:xfrm>
            <a:off x="838199" y="6356350"/>
            <a:ext cx="2948709" cy="365125"/>
          </a:xfrm>
          <a:prstGeom prst="rect">
            <a:avLst/>
          </a:prstGeom>
        </p:spPr>
        <p:txBody>
          <a:bodyPr vert="horz" lIns="91440" tIns="45720" rIns="91440" bIns="45720" rtlCol="0" anchor="ctr"/>
          <a:lstStyle>
            <a:lvl1pPr algn="l">
              <a:defRPr sz="1400">
                <a:solidFill>
                  <a:schemeClr val="tx1">
                    <a:tint val="75000"/>
                  </a:schemeClr>
                </a:solidFill>
              </a:defRPr>
            </a:lvl1pPr>
          </a:lstStyle>
          <a:p>
            <a:r>
              <a:rPr lang="en-US" dirty="0"/>
              <a:t>EEE 4518 – Final Project – Cor Machina</a:t>
            </a:r>
          </a:p>
        </p:txBody>
      </p:sp>
      <p:sp>
        <p:nvSpPr>
          <p:cNvPr id="9" name="Footer Placeholder 4">
            <a:extLst>
              <a:ext uri="{FF2B5EF4-FFF2-40B4-BE49-F238E27FC236}">
                <a16:creationId xmlns:a16="http://schemas.microsoft.com/office/drawing/2014/main" id="{ED7495E2-AAE3-837D-8039-5C90E61BA2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b="1">
                <a:solidFill>
                  <a:schemeClr val="tx1">
                    <a:tint val="75000"/>
                  </a:schemeClr>
                </a:solidFill>
              </a:defRPr>
            </a:lvl1pPr>
          </a:lstStyle>
          <a:p>
            <a:r>
              <a:rPr lang="en-US" dirty="0"/>
              <a:t>Presented By – </a:t>
            </a:r>
            <a:r>
              <a:rPr lang="en-US" dirty="0">
                <a:solidFill>
                  <a:srgbClr val="FFFF00"/>
                </a:solidFill>
              </a:rPr>
              <a:t>220021308</a:t>
            </a:r>
            <a:endParaRPr lang="en-US" sz="2400" dirty="0">
              <a:solidFill>
                <a:srgbClr val="FFFF00"/>
              </a:solidFill>
            </a:endParaRPr>
          </a:p>
        </p:txBody>
      </p:sp>
      <p:sp>
        <p:nvSpPr>
          <p:cNvPr id="10" name="Slide Number Placeholder 5">
            <a:extLst>
              <a:ext uri="{FF2B5EF4-FFF2-40B4-BE49-F238E27FC236}">
                <a16:creationId xmlns:a16="http://schemas.microsoft.com/office/drawing/2014/main" id="{F09EE927-F2A8-97A3-6A76-7820AF5042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CA6118-F558-4478-80BF-767359AFE687}" type="slidenum">
              <a:rPr lang="en-US" smtClean="0"/>
              <a:t>‹#›</a:t>
            </a:fld>
            <a:endParaRPr lang="en-US"/>
          </a:p>
        </p:txBody>
      </p:sp>
    </p:spTree>
    <p:extLst>
      <p:ext uri="{BB962C8B-B14F-4D97-AF65-F5344CB8AC3E}">
        <p14:creationId xmlns:p14="http://schemas.microsoft.com/office/powerpoint/2010/main" val="1404911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3">
            <a:extLst>
              <a:ext uri="{FF2B5EF4-FFF2-40B4-BE49-F238E27FC236}">
                <a16:creationId xmlns:a16="http://schemas.microsoft.com/office/drawing/2014/main" id="{9E4089BB-928C-4EC2-BDB8-11CEE2FE2322}"/>
              </a:ext>
            </a:extLst>
          </p:cNvPr>
          <p:cNvSpPr>
            <a:spLocks noGrp="1"/>
          </p:cNvSpPr>
          <p:nvPr>
            <p:ph type="dt" sz="half" idx="10"/>
          </p:nvPr>
        </p:nvSpPr>
        <p:spPr>
          <a:xfrm>
            <a:off x="838199" y="6356350"/>
            <a:ext cx="2948709" cy="365125"/>
          </a:xfrm>
          <a:prstGeom prst="rect">
            <a:avLst/>
          </a:prstGeom>
        </p:spPr>
        <p:txBody>
          <a:bodyPr vert="horz" lIns="91440" tIns="45720" rIns="91440" bIns="45720" rtlCol="0" anchor="ctr"/>
          <a:lstStyle>
            <a:lvl1pPr algn="l">
              <a:defRPr sz="1400">
                <a:solidFill>
                  <a:schemeClr val="tx1">
                    <a:tint val="75000"/>
                  </a:schemeClr>
                </a:solidFill>
              </a:defRPr>
            </a:lvl1pPr>
          </a:lstStyle>
          <a:p>
            <a:r>
              <a:rPr lang="en-US" dirty="0"/>
              <a:t>EEE 4518 – Final Project – Cor Machina</a:t>
            </a:r>
          </a:p>
        </p:txBody>
      </p:sp>
      <p:sp>
        <p:nvSpPr>
          <p:cNvPr id="9" name="Footer Placeholder 4">
            <a:extLst>
              <a:ext uri="{FF2B5EF4-FFF2-40B4-BE49-F238E27FC236}">
                <a16:creationId xmlns:a16="http://schemas.microsoft.com/office/drawing/2014/main" id="{5E8B3E4C-1A8D-D5CF-7C2D-21F8B00351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b="1">
                <a:solidFill>
                  <a:schemeClr val="tx1">
                    <a:tint val="75000"/>
                  </a:schemeClr>
                </a:solidFill>
              </a:defRPr>
            </a:lvl1pPr>
          </a:lstStyle>
          <a:p>
            <a:r>
              <a:rPr lang="en-US" dirty="0"/>
              <a:t>Presented By – </a:t>
            </a:r>
            <a:r>
              <a:rPr lang="en-US" dirty="0">
                <a:solidFill>
                  <a:srgbClr val="FFFF00"/>
                </a:solidFill>
              </a:rPr>
              <a:t>220021308</a:t>
            </a:r>
            <a:endParaRPr lang="en-US" sz="2400" dirty="0">
              <a:solidFill>
                <a:srgbClr val="FFFF00"/>
              </a:solidFill>
            </a:endParaRPr>
          </a:p>
        </p:txBody>
      </p:sp>
      <p:sp>
        <p:nvSpPr>
          <p:cNvPr id="10" name="Slide Number Placeholder 5">
            <a:extLst>
              <a:ext uri="{FF2B5EF4-FFF2-40B4-BE49-F238E27FC236}">
                <a16:creationId xmlns:a16="http://schemas.microsoft.com/office/drawing/2014/main" id="{91142015-B663-283E-75B0-A92CCD548C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CA6118-F558-4478-80BF-767359AFE687}" type="slidenum">
              <a:rPr lang="en-US" smtClean="0"/>
              <a:t>‹#›</a:t>
            </a:fld>
            <a:endParaRPr lang="en-US"/>
          </a:p>
        </p:txBody>
      </p:sp>
    </p:spTree>
    <p:extLst>
      <p:ext uri="{BB962C8B-B14F-4D97-AF65-F5344CB8AC3E}">
        <p14:creationId xmlns:p14="http://schemas.microsoft.com/office/powerpoint/2010/main" val="3231541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B6AF99DC-6A51-6A10-1FCB-EC0C542B27C2}"/>
              </a:ext>
            </a:extLst>
          </p:cNvPr>
          <p:cNvSpPr>
            <a:spLocks noGrp="1"/>
          </p:cNvSpPr>
          <p:nvPr>
            <p:ph type="dt" sz="half" idx="2"/>
          </p:nvPr>
        </p:nvSpPr>
        <p:spPr>
          <a:xfrm>
            <a:off x="838199" y="6356350"/>
            <a:ext cx="2948709" cy="365125"/>
          </a:xfrm>
          <a:prstGeom prst="rect">
            <a:avLst/>
          </a:prstGeom>
        </p:spPr>
        <p:txBody>
          <a:bodyPr vert="horz" lIns="91440" tIns="45720" rIns="91440" bIns="45720" rtlCol="0" anchor="ctr"/>
          <a:lstStyle>
            <a:lvl1pPr algn="l">
              <a:defRPr sz="1400">
                <a:solidFill>
                  <a:schemeClr val="tx1">
                    <a:tint val="75000"/>
                  </a:schemeClr>
                </a:solidFill>
              </a:defRPr>
            </a:lvl1pPr>
          </a:lstStyle>
          <a:p>
            <a:r>
              <a:rPr lang="en-US" dirty="0"/>
              <a:t>EEE 4518 – Final Project – Cor Machina</a:t>
            </a:r>
          </a:p>
        </p:txBody>
      </p:sp>
      <p:sp>
        <p:nvSpPr>
          <p:cNvPr id="8" name="Footer Placeholder 4">
            <a:extLst>
              <a:ext uri="{FF2B5EF4-FFF2-40B4-BE49-F238E27FC236}">
                <a16:creationId xmlns:a16="http://schemas.microsoft.com/office/drawing/2014/main" id="{D05C7523-6BAE-FAB2-A691-047E9DD77B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b="1">
                <a:solidFill>
                  <a:schemeClr val="tx1">
                    <a:tint val="75000"/>
                  </a:schemeClr>
                </a:solidFill>
              </a:defRPr>
            </a:lvl1pPr>
          </a:lstStyle>
          <a:p>
            <a:r>
              <a:rPr lang="en-US" dirty="0"/>
              <a:t>Presented By – </a:t>
            </a:r>
            <a:r>
              <a:rPr lang="en-US" dirty="0">
                <a:solidFill>
                  <a:srgbClr val="FFFF00"/>
                </a:solidFill>
              </a:rPr>
              <a:t>220021308</a:t>
            </a:r>
            <a:endParaRPr lang="en-US" sz="2400" dirty="0">
              <a:solidFill>
                <a:srgbClr val="FFFF00"/>
              </a:solidFill>
            </a:endParaRPr>
          </a:p>
        </p:txBody>
      </p:sp>
      <p:sp>
        <p:nvSpPr>
          <p:cNvPr id="9" name="Slide Number Placeholder 5">
            <a:extLst>
              <a:ext uri="{FF2B5EF4-FFF2-40B4-BE49-F238E27FC236}">
                <a16:creationId xmlns:a16="http://schemas.microsoft.com/office/drawing/2014/main" id="{C7303295-08E8-B229-B771-FE734E0E53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CA6118-F558-4478-80BF-767359AFE687}" type="slidenum">
              <a:rPr lang="en-US" smtClean="0"/>
              <a:t>‹#›</a:t>
            </a:fld>
            <a:endParaRPr lang="en-US"/>
          </a:p>
        </p:txBody>
      </p:sp>
    </p:spTree>
    <p:extLst>
      <p:ext uri="{BB962C8B-B14F-4D97-AF65-F5344CB8AC3E}">
        <p14:creationId xmlns:p14="http://schemas.microsoft.com/office/powerpoint/2010/main" val="1172622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36195EC-598A-15A5-3382-0A46F4599A62}"/>
              </a:ext>
            </a:extLst>
          </p:cNvPr>
          <p:cNvSpPr>
            <a:spLocks noGrp="1"/>
          </p:cNvSpPr>
          <p:nvPr>
            <p:ph type="dt" sz="half" idx="2"/>
          </p:nvPr>
        </p:nvSpPr>
        <p:spPr>
          <a:xfrm>
            <a:off x="838199" y="6356350"/>
            <a:ext cx="2948709" cy="365125"/>
          </a:xfrm>
          <a:prstGeom prst="rect">
            <a:avLst/>
          </a:prstGeom>
        </p:spPr>
        <p:txBody>
          <a:bodyPr vert="horz" lIns="91440" tIns="45720" rIns="91440" bIns="45720" rtlCol="0" anchor="ctr"/>
          <a:lstStyle>
            <a:lvl1pPr algn="l">
              <a:defRPr sz="1400">
                <a:solidFill>
                  <a:schemeClr val="tx1">
                    <a:tint val="75000"/>
                  </a:schemeClr>
                </a:solidFill>
              </a:defRPr>
            </a:lvl1pPr>
          </a:lstStyle>
          <a:p>
            <a:r>
              <a:rPr lang="en-US" dirty="0"/>
              <a:t>EEE 4518 – Final Project – Cor Machina</a:t>
            </a:r>
          </a:p>
        </p:txBody>
      </p:sp>
      <p:sp>
        <p:nvSpPr>
          <p:cNvPr id="8" name="Footer Placeholder 4">
            <a:extLst>
              <a:ext uri="{FF2B5EF4-FFF2-40B4-BE49-F238E27FC236}">
                <a16:creationId xmlns:a16="http://schemas.microsoft.com/office/drawing/2014/main" id="{B5680D34-DBC2-01E8-F5E4-20E0C0135B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b="1">
                <a:solidFill>
                  <a:schemeClr val="tx1">
                    <a:tint val="75000"/>
                  </a:schemeClr>
                </a:solidFill>
              </a:defRPr>
            </a:lvl1pPr>
          </a:lstStyle>
          <a:p>
            <a:r>
              <a:rPr lang="en-US" dirty="0"/>
              <a:t>Presented By – </a:t>
            </a:r>
            <a:r>
              <a:rPr lang="en-US" dirty="0">
                <a:solidFill>
                  <a:srgbClr val="FFFF00"/>
                </a:solidFill>
              </a:rPr>
              <a:t>220021308</a:t>
            </a:r>
            <a:endParaRPr lang="en-US" sz="2400" dirty="0">
              <a:solidFill>
                <a:srgbClr val="FFFF00"/>
              </a:solidFill>
            </a:endParaRPr>
          </a:p>
        </p:txBody>
      </p:sp>
      <p:sp>
        <p:nvSpPr>
          <p:cNvPr id="9" name="Slide Number Placeholder 5">
            <a:extLst>
              <a:ext uri="{FF2B5EF4-FFF2-40B4-BE49-F238E27FC236}">
                <a16:creationId xmlns:a16="http://schemas.microsoft.com/office/drawing/2014/main" id="{6DB8D145-6C20-6BAA-A555-E72C2B0FB8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CA6118-F558-4478-80BF-767359AFE687}" type="slidenum">
              <a:rPr lang="en-US" smtClean="0"/>
              <a:t>‹#›</a:t>
            </a:fld>
            <a:endParaRPr lang="en-US"/>
          </a:p>
        </p:txBody>
      </p:sp>
    </p:spTree>
    <p:extLst>
      <p:ext uri="{BB962C8B-B14F-4D97-AF65-F5344CB8AC3E}">
        <p14:creationId xmlns:p14="http://schemas.microsoft.com/office/powerpoint/2010/main" val="9231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46C09166-D9CC-4787-FECD-263BD10015F0}"/>
              </a:ext>
            </a:extLst>
          </p:cNvPr>
          <p:cNvSpPr/>
          <p:nvPr userDrawn="1"/>
        </p:nvSpPr>
        <p:spPr>
          <a:xfrm>
            <a:off x="0" y="6311900"/>
            <a:ext cx="12201236" cy="546100"/>
          </a:xfrm>
          <a:prstGeom prst="rect">
            <a:avLst/>
          </a:prstGeom>
          <a:solidFill>
            <a:srgbClr val="001B66"/>
          </a:solidFill>
          <a:ln>
            <a:solidFill>
              <a:srgbClr val="001B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ate Placeholder 3"/>
          <p:cNvSpPr>
            <a:spLocks noGrp="1"/>
          </p:cNvSpPr>
          <p:nvPr>
            <p:ph type="dt" sz="half" idx="2"/>
          </p:nvPr>
        </p:nvSpPr>
        <p:spPr>
          <a:xfrm>
            <a:off x="838199" y="6356350"/>
            <a:ext cx="2948709" cy="365125"/>
          </a:xfrm>
          <a:prstGeom prst="rect">
            <a:avLst/>
          </a:prstGeom>
        </p:spPr>
        <p:txBody>
          <a:bodyPr vert="horz" lIns="91440" tIns="45720" rIns="91440" bIns="45720" rtlCol="0" anchor="ctr"/>
          <a:lstStyle>
            <a:lvl1pPr algn="l">
              <a:defRPr sz="1400">
                <a:solidFill>
                  <a:schemeClr val="tx1">
                    <a:tint val="75000"/>
                  </a:schemeClr>
                </a:solidFill>
              </a:defRPr>
            </a:lvl1pPr>
          </a:lstStyle>
          <a:p>
            <a:r>
              <a:rPr lang="en-US" dirty="0"/>
              <a:t>EEE 4518 – Final Project – Cor Machina</a:t>
            </a:r>
          </a:p>
        </p:txBody>
      </p:sp>
      <p:sp>
        <p:nvSpPr>
          <p:cNvPr id="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b="1">
                <a:solidFill>
                  <a:schemeClr val="tx1">
                    <a:tint val="75000"/>
                  </a:schemeClr>
                </a:solidFill>
              </a:defRPr>
            </a:lvl1pPr>
          </a:lstStyle>
          <a:p>
            <a:r>
              <a:rPr lang="en-US" dirty="0"/>
              <a:t>Presented By – </a:t>
            </a:r>
            <a:r>
              <a:rPr lang="en-US" dirty="0">
                <a:solidFill>
                  <a:srgbClr val="FFFF00"/>
                </a:solidFill>
              </a:rPr>
              <a:t>220021308</a:t>
            </a:r>
            <a:endParaRPr lang="en-US" sz="2400" dirty="0">
              <a:solidFill>
                <a:srgbClr val="FFFF00"/>
              </a:solidFill>
            </a:endParaRPr>
          </a:p>
        </p:txBody>
      </p:sp>
      <p:sp>
        <p:nvSpPr>
          <p:cNvPr id="1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CA6118-F558-4478-80BF-767359AFE687}" type="slidenum">
              <a:rPr lang="en-US" smtClean="0"/>
              <a:t>‹#›</a:t>
            </a:fld>
            <a:endParaRPr lang="en-US"/>
          </a:p>
        </p:txBody>
      </p:sp>
      <p:pic>
        <p:nvPicPr>
          <p:cNvPr id="12" name="Picture 11">
            <a:extLst>
              <a:ext uri="{FF2B5EF4-FFF2-40B4-BE49-F238E27FC236}">
                <a16:creationId xmlns:a16="http://schemas.microsoft.com/office/drawing/2014/main" id="{DC28A352-7B3A-456E-60FD-E9A863E19327}"/>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l="49243" t="192" r="379" b="80479"/>
          <a:stretch>
            <a:fillRect/>
          </a:stretch>
        </p:blipFill>
        <p:spPr>
          <a:xfrm>
            <a:off x="6049819" y="0"/>
            <a:ext cx="6142181" cy="1325563"/>
          </a:xfrm>
          <a:prstGeom prst="rect">
            <a:avLst/>
          </a:prstGeom>
        </p:spPr>
      </p:pic>
    </p:spTree>
    <p:extLst>
      <p:ext uri="{BB962C8B-B14F-4D97-AF65-F5344CB8AC3E}">
        <p14:creationId xmlns:p14="http://schemas.microsoft.com/office/powerpoint/2010/main" val="20916037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b="1"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6.jpeg"/><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3.jpeg"/></Relationships>
</file>

<file path=ppt/slides/_rels/slide15.xml.rels><?xml version="1.0" encoding="UTF-8" standalone="yes"?>
<Relationships xmlns="http://schemas.openxmlformats.org/package/2006/relationships"><Relationship Id="rId3" Type="http://schemas.openxmlformats.org/officeDocument/2006/relationships/hyperlink" Target="https://youtu.be/GypEB6pzLdk?si=bB2lvqnEIZbpCdhQ" TargetMode="External"/><Relationship Id="rId2" Type="http://schemas.openxmlformats.org/officeDocument/2006/relationships/hyperlink" Target="https://github.com/sadique-er/pcr-thermal-cycler/blob/main/pcr.ino"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pmc.ncbi.nlm.nih.gov/articles/PMC10021165/" TargetMode="External"/><Relationship Id="rId2" Type="http://schemas.openxmlformats.org/officeDocument/2006/relationships/hyperlink" Target="https://www.instructables.com/Arduino-PCR-thermal-cycler-for-under-85/" TargetMode="External"/><Relationship Id="rId1" Type="http://schemas.openxmlformats.org/officeDocument/2006/relationships/slideLayout" Target="../slideLayouts/slideLayout2.xml"/><Relationship Id="rId4" Type="http://schemas.openxmlformats.org/officeDocument/2006/relationships/hyperlink" Target="https://www.labmanager.com/understanding-thermal-cyclers-an-introduction-and-overview-3163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662C64-160E-59F2-3CE9-32EBE084C6C7}"/>
              </a:ext>
            </a:extLst>
          </p:cNvPr>
          <p:cNvSpPr txBox="1"/>
          <p:nvPr/>
        </p:nvSpPr>
        <p:spPr>
          <a:xfrm>
            <a:off x="194175" y="524166"/>
            <a:ext cx="7669429" cy="351378"/>
          </a:xfrm>
          <a:prstGeom prst="rect">
            <a:avLst/>
          </a:prstGeom>
          <a:noFill/>
        </p:spPr>
        <p:txBody>
          <a:bodyPr wrap="square" rtlCol="0">
            <a:spAutoFit/>
          </a:bodyPr>
          <a:lstStyle/>
          <a:p>
            <a:pPr>
              <a:lnSpc>
                <a:spcPct val="115000"/>
              </a:lnSpc>
            </a:pPr>
            <a:r>
              <a:rPr lang="en-GB" sz="1600" b="1" i="1" dirty="0">
                <a:effectLst/>
                <a:latin typeface="Cambria" panose="02040503050406030204" pitchFamily="18" charset="0"/>
                <a:ea typeface="Cambria" panose="02040503050406030204" pitchFamily="18" charset="0"/>
                <a:cs typeface="Times New Roman" panose="02020603050405020304" pitchFamily="18" charset="0"/>
              </a:rPr>
              <a:t>EEE 4518</a:t>
            </a:r>
            <a:r>
              <a:rPr lang="en-GB" sz="1600" i="1" dirty="0">
                <a:latin typeface="Cambria" panose="02040503050406030204" pitchFamily="18" charset="0"/>
                <a:ea typeface="Cambria" panose="02040503050406030204" pitchFamily="18" charset="0"/>
              </a:rPr>
              <a:t>: </a:t>
            </a:r>
            <a:r>
              <a:rPr lang="en-GB" sz="1600" b="1" i="1" dirty="0">
                <a:effectLst/>
                <a:latin typeface="Cambria" panose="02040503050406030204" pitchFamily="18" charset="0"/>
                <a:ea typeface="Cambria" panose="02040503050406030204" pitchFamily="18" charset="0"/>
                <a:cs typeface="Times New Roman" panose="02020603050405020304" pitchFamily="18" charset="0"/>
              </a:rPr>
              <a:t>ELECTRICAL AND ELECTRONIC</a:t>
            </a:r>
            <a:r>
              <a:rPr lang="en-GB" sz="1600" b="1" i="1" dirty="0">
                <a:latin typeface="Cambria" panose="02040503050406030204" pitchFamily="18" charset="0"/>
                <a:ea typeface="Cambria" panose="02040503050406030204" pitchFamily="18" charset="0"/>
                <a:cs typeface="Times New Roman" panose="02020603050405020304" pitchFamily="18" charset="0"/>
              </a:rPr>
              <a:t>S</a:t>
            </a:r>
            <a:r>
              <a:rPr lang="en-GB" sz="1600" b="1" i="1" dirty="0">
                <a:effectLst/>
                <a:latin typeface="Cambria" panose="02040503050406030204" pitchFamily="18" charset="0"/>
                <a:ea typeface="Cambria" panose="02040503050406030204" pitchFamily="18" charset="0"/>
                <a:cs typeface="Times New Roman" panose="02020603050405020304" pitchFamily="18" charset="0"/>
              </a:rPr>
              <a:t> LABORATORY</a:t>
            </a:r>
            <a:endParaRPr lang="en-GB" sz="1600" i="1" dirty="0">
              <a:effectLst/>
              <a:latin typeface="Cambria" panose="02040503050406030204" pitchFamily="18" charset="0"/>
              <a:ea typeface="Cambria" panose="02040503050406030204" pitchFamily="18" charset="0"/>
            </a:endParaRPr>
          </a:p>
        </p:txBody>
      </p:sp>
      <p:sp>
        <p:nvSpPr>
          <p:cNvPr id="3" name="Rectangle 2">
            <a:extLst>
              <a:ext uri="{FF2B5EF4-FFF2-40B4-BE49-F238E27FC236}">
                <a16:creationId xmlns:a16="http://schemas.microsoft.com/office/drawing/2014/main" id="{2530FE0C-77CE-6780-67FB-005678B13797}"/>
              </a:ext>
            </a:extLst>
          </p:cNvPr>
          <p:cNvSpPr/>
          <p:nvPr/>
        </p:nvSpPr>
        <p:spPr>
          <a:xfrm>
            <a:off x="3952690" y="6292334"/>
            <a:ext cx="5489516" cy="369332"/>
          </a:xfrm>
          <a:prstGeom prst="rect">
            <a:avLst/>
          </a:prstGeom>
        </p:spPr>
        <p:txBody>
          <a:bodyPr wrap="none">
            <a:spAutoFit/>
          </a:bodyPr>
          <a:lstStyle/>
          <a:p>
            <a:r>
              <a:rPr lang="en-US" dirty="0">
                <a:solidFill>
                  <a:srgbClr val="202124"/>
                </a:solidFill>
                <a:latin typeface="Google Sans"/>
              </a:rPr>
              <a:t>Creating Global Citizens Rooted with Islamic Values</a:t>
            </a:r>
            <a:endParaRPr lang="en-US" dirty="0"/>
          </a:p>
        </p:txBody>
      </p:sp>
      <p:sp>
        <p:nvSpPr>
          <p:cNvPr id="4" name="TextBox 3">
            <a:extLst>
              <a:ext uri="{FF2B5EF4-FFF2-40B4-BE49-F238E27FC236}">
                <a16:creationId xmlns:a16="http://schemas.microsoft.com/office/drawing/2014/main" id="{EA2048BC-1A84-7BE5-6C6E-83D0958646B4}"/>
              </a:ext>
            </a:extLst>
          </p:cNvPr>
          <p:cNvSpPr txBox="1"/>
          <p:nvPr/>
        </p:nvSpPr>
        <p:spPr>
          <a:xfrm>
            <a:off x="194175" y="146110"/>
            <a:ext cx="8746067" cy="523220"/>
          </a:xfrm>
          <a:prstGeom prst="rect">
            <a:avLst/>
          </a:prstGeom>
          <a:noFill/>
        </p:spPr>
        <p:txBody>
          <a:bodyPr wrap="square" rtlCol="0">
            <a:spAutoFit/>
          </a:bodyPr>
          <a:lstStyle/>
          <a:p>
            <a:r>
              <a:rPr lang="en-GB" sz="2800" b="1" dirty="0">
                <a:latin typeface="Cambria" panose="02040503050406030204" pitchFamily="18" charset="0"/>
                <a:ea typeface="Cambria" panose="02040503050406030204" pitchFamily="18" charset="0"/>
              </a:rPr>
              <a:t>FINAL PROJECT DEMONESTRATION</a:t>
            </a:r>
          </a:p>
        </p:txBody>
      </p:sp>
      <p:sp>
        <p:nvSpPr>
          <p:cNvPr id="5" name="TextBox 4">
            <a:extLst>
              <a:ext uri="{FF2B5EF4-FFF2-40B4-BE49-F238E27FC236}">
                <a16:creationId xmlns:a16="http://schemas.microsoft.com/office/drawing/2014/main" id="{C7D1CA57-80E5-8B96-7AAF-6737A3FA772E}"/>
              </a:ext>
            </a:extLst>
          </p:cNvPr>
          <p:cNvSpPr txBox="1"/>
          <p:nvPr/>
        </p:nvSpPr>
        <p:spPr>
          <a:xfrm>
            <a:off x="194175" y="1047386"/>
            <a:ext cx="8153400" cy="584775"/>
          </a:xfrm>
          <a:prstGeom prst="rect">
            <a:avLst/>
          </a:prstGeom>
          <a:noFill/>
        </p:spPr>
        <p:txBody>
          <a:bodyPr wrap="square" rtlCol="0">
            <a:spAutoFit/>
          </a:bodyPr>
          <a:lstStyle/>
          <a:p>
            <a:r>
              <a:rPr lang="en-GB" sz="3200" b="1" dirty="0">
                <a:latin typeface="Cambria" panose="02040503050406030204" pitchFamily="18" charset="0"/>
                <a:ea typeface="Cambria" panose="02040503050406030204" pitchFamily="18" charset="0"/>
              </a:rPr>
              <a:t>PROJECT TITLE: </a:t>
            </a:r>
            <a:r>
              <a:rPr lang="en-GB" sz="2800" i="1" dirty="0">
                <a:latin typeface="Cambria" panose="02040503050406030204" pitchFamily="18" charset="0"/>
                <a:ea typeface="Cambria" panose="02040503050406030204" pitchFamily="18" charset="0"/>
              </a:rPr>
              <a:t>Prototype PCR Machine</a:t>
            </a:r>
            <a:endParaRPr lang="en-GB" sz="3200" i="1" dirty="0">
              <a:latin typeface="Cambria" panose="02040503050406030204" pitchFamily="18" charset="0"/>
              <a:ea typeface="Cambria" panose="02040503050406030204" pitchFamily="18" charset="0"/>
            </a:endParaRPr>
          </a:p>
        </p:txBody>
      </p:sp>
      <p:pic>
        <p:nvPicPr>
          <p:cNvPr id="7" name="Picture 2">
            <a:extLst>
              <a:ext uri="{FF2B5EF4-FFF2-40B4-BE49-F238E27FC236}">
                <a16:creationId xmlns:a16="http://schemas.microsoft.com/office/drawing/2014/main" id="{39112915-2010-554C-6A18-6C424E8A80F9}"/>
              </a:ext>
            </a:extLst>
          </p:cNvPr>
          <p:cNvPicPr>
            <a:picLocks noChangeAspect="1" noChangeArrowheads="1"/>
          </p:cNvPicPr>
          <p:nvPr/>
        </p:nvPicPr>
        <p:blipFill>
          <a:blip r:embed="rId2"/>
          <a:srcRect/>
          <a:stretch/>
        </p:blipFill>
        <p:spPr bwMode="auto">
          <a:xfrm>
            <a:off x="940526" y="2149082"/>
            <a:ext cx="1201783" cy="1293998"/>
          </a:xfrm>
          <a:prstGeom prst="rect">
            <a:avLst/>
          </a:prstGeom>
          <a:noFill/>
          <a:extLst>
            <a:ext uri="{909E8E84-426E-40DD-AFC4-6F175D3DCCD1}">
              <a14:hiddenFill xmlns:a14="http://schemas.microsoft.com/office/drawing/2010/main">
                <a:solidFill>
                  <a:srgbClr val="FFFFFF"/>
                </a:solidFill>
              </a14:hiddenFill>
            </a:ext>
          </a:extLst>
        </p:spPr>
      </p:pic>
      <p:sp>
        <p:nvSpPr>
          <p:cNvPr id="8" name="Subtitle 2">
            <a:extLst>
              <a:ext uri="{FF2B5EF4-FFF2-40B4-BE49-F238E27FC236}">
                <a16:creationId xmlns:a16="http://schemas.microsoft.com/office/drawing/2014/main" id="{7AC81915-B80F-CCE8-662C-07DEC4FF003B}"/>
              </a:ext>
            </a:extLst>
          </p:cNvPr>
          <p:cNvSpPr txBox="1">
            <a:spLocks/>
          </p:cNvSpPr>
          <p:nvPr/>
        </p:nvSpPr>
        <p:spPr>
          <a:xfrm>
            <a:off x="2722834" y="3467813"/>
            <a:ext cx="2350475" cy="885432"/>
          </a:xfrm>
          <a:prstGeom prst="rect">
            <a:avLst/>
          </a:prstGeom>
        </p:spPr>
        <p:txBody>
          <a:bodyPr vert="horz" lIns="91440" tIns="45720" rIns="91440" bIns="45720" rtlCol="0" anchor="t">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US" sz="1200" dirty="0"/>
              <a:t>Nahid Sadique Tasin</a:t>
            </a:r>
            <a:endParaRPr lang="en-BD" sz="1200" dirty="0"/>
          </a:p>
          <a:p>
            <a:r>
              <a:rPr lang="en-US" sz="2000" dirty="0" smtClean="0"/>
              <a:t>220021115</a:t>
            </a:r>
            <a:endParaRPr lang="en-BD" sz="2000" dirty="0"/>
          </a:p>
        </p:txBody>
      </p:sp>
      <p:pic>
        <p:nvPicPr>
          <p:cNvPr id="9" name="Picture 2">
            <a:extLst>
              <a:ext uri="{FF2B5EF4-FFF2-40B4-BE49-F238E27FC236}">
                <a16:creationId xmlns:a16="http://schemas.microsoft.com/office/drawing/2014/main" id="{0A6A945F-769D-2109-B09A-3F6E2F0A769F}"/>
              </a:ext>
            </a:extLst>
          </p:cNvPr>
          <p:cNvPicPr>
            <a:picLocks noChangeAspect="1" noChangeArrowheads="1"/>
          </p:cNvPicPr>
          <p:nvPr/>
        </p:nvPicPr>
        <p:blipFill>
          <a:blip r:embed="rId3"/>
          <a:srcRect/>
          <a:stretch/>
        </p:blipFill>
        <p:spPr bwMode="auto">
          <a:xfrm>
            <a:off x="3404591" y="2124350"/>
            <a:ext cx="1009235" cy="1343463"/>
          </a:xfrm>
          <a:prstGeom prst="rect">
            <a:avLst/>
          </a:prstGeom>
          <a:noFill/>
          <a:extLst>
            <a:ext uri="{909E8E84-426E-40DD-AFC4-6F175D3DCCD1}">
              <a14:hiddenFill xmlns:a14="http://schemas.microsoft.com/office/drawing/2010/main">
                <a:solidFill>
                  <a:srgbClr val="FFFFFF"/>
                </a:solidFill>
              </a14:hiddenFill>
            </a:ext>
          </a:extLst>
        </p:spPr>
      </p:pic>
      <p:sp>
        <p:nvSpPr>
          <p:cNvPr id="10" name="Subtitle 2">
            <a:extLst>
              <a:ext uri="{FF2B5EF4-FFF2-40B4-BE49-F238E27FC236}">
                <a16:creationId xmlns:a16="http://schemas.microsoft.com/office/drawing/2014/main" id="{95FD8C22-914B-30B3-2424-474EC5AFD801}"/>
              </a:ext>
            </a:extLst>
          </p:cNvPr>
          <p:cNvSpPr txBox="1">
            <a:spLocks/>
          </p:cNvSpPr>
          <p:nvPr/>
        </p:nvSpPr>
        <p:spPr>
          <a:xfrm>
            <a:off x="4976019" y="3474848"/>
            <a:ext cx="2350475" cy="885432"/>
          </a:xfrm>
          <a:prstGeom prst="rect">
            <a:avLst/>
          </a:prstGeom>
        </p:spPr>
        <p:txBody>
          <a:bodyPr vert="horz" lIns="91440" tIns="45720" rIns="91440" bIns="45720" rtlCol="0" anchor="t">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US" sz="1200" dirty="0"/>
              <a:t>Hussaib Hazzil Abbasi</a:t>
            </a:r>
            <a:endParaRPr lang="en-BD" sz="1200" dirty="0"/>
          </a:p>
          <a:p>
            <a:r>
              <a:rPr lang="en-US" sz="2000" dirty="0" smtClean="0"/>
              <a:t>220021104</a:t>
            </a:r>
            <a:endParaRPr lang="en-BD" sz="2000" dirty="0"/>
          </a:p>
        </p:txBody>
      </p:sp>
      <p:pic>
        <p:nvPicPr>
          <p:cNvPr id="11" name="Picture 2">
            <a:extLst>
              <a:ext uri="{FF2B5EF4-FFF2-40B4-BE49-F238E27FC236}">
                <a16:creationId xmlns:a16="http://schemas.microsoft.com/office/drawing/2014/main" id="{4A5A7F9A-5589-F24D-F5C8-5FA13AE19B55}"/>
              </a:ext>
            </a:extLst>
          </p:cNvPr>
          <p:cNvPicPr>
            <a:picLocks noChangeAspect="1" noChangeArrowheads="1"/>
          </p:cNvPicPr>
          <p:nvPr/>
        </p:nvPicPr>
        <p:blipFill>
          <a:blip r:embed="rId4"/>
          <a:srcRect/>
          <a:stretch/>
        </p:blipFill>
        <p:spPr bwMode="auto">
          <a:xfrm>
            <a:off x="5520385" y="2131385"/>
            <a:ext cx="1284017" cy="1343463"/>
          </a:xfrm>
          <a:prstGeom prst="rect">
            <a:avLst/>
          </a:prstGeom>
          <a:noFill/>
          <a:extLst>
            <a:ext uri="{909E8E84-426E-40DD-AFC4-6F175D3DCCD1}">
              <a14:hiddenFill xmlns:a14="http://schemas.microsoft.com/office/drawing/2010/main">
                <a:solidFill>
                  <a:srgbClr val="FFFFFF"/>
                </a:solidFill>
              </a14:hiddenFill>
            </a:ext>
          </a:extLst>
        </p:spPr>
      </p:pic>
      <p:sp>
        <p:nvSpPr>
          <p:cNvPr id="12" name="Subtitle 2">
            <a:extLst>
              <a:ext uri="{FF2B5EF4-FFF2-40B4-BE49-F238E27FC236}">
                <a16:creationId xmlns:a16="http://schemas.microsoft.com/office/drawing/2014/main" id="{B7343221-5091-7091-6D71-85129B424A15}"/>
              </a:ext>
            </a:extLst>
          </p:cNvPr>
          <p:cNvSpPr txBox="1">
            <a:spLocks/>
          </p:cNvSpPr>
          <p:nvPr/>
        </p:nvSpPr>
        <p:spPr>
          <a:xfrm>
            <a:off x="7348961" y="3465399"/>
            <a:ext cx="2350475" cy="885432"/>
          </a:xfrm>
          <a:prstGeom prst="rect">
            <a:avLst/>
          </a:prstGeom>
        </p:spPr>
        <p:txBody>
          <a:bodyPr vert="horz" lIns="91440" tIns="45720" rIns="91440" bIns="45720" rtlCol="0" anchor="t">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US" sz="1200" dirty="0"/>
              <a:t>M Faiad Faisal Sarthok</a:t>
            </a:r>
            <a:endParaRPr lang="en-BD" sz="1200" dirty="0"/>
          </a:p>
          <a:p>
            <a:r>
              <a:rPr lang="en-US" sz="2000" dirty="0" smtClean="0"/>
              <a:t>220021116</a:t>
            </a:r>
            <a:endParaRPr lang="en-BD" sz="2000" dirty="0"/>
          </a:p>
        </p:txBody>
      </p:sp>
      <p:pic>
        <p:nvPicPr>
          <p:cNvPr id="13" name="Picture 2">
            <a:extLst>
              <a:ext uri="{FF2B5EF4-FFF2-40B4-BE49-F238E27FC236}">
                <a16:creationId xmlns:a16="http://schemas.microsoft.com/office/drawing/2014/main" id="{6A4B5566-886C-D373-2B82-EA87514FFF6B}"/>
              </a:ext>
            </a:extLst>
          </p:cNvPr>
          <p:cNvPicPr>
            <a:picLocks noChangeAspect="1" noChangeArrowheads="1"/>
          </p:cNvPicPr>
          <p:nvPr/>
        </p:nvPicPr>
        <p:blipFill>
          <a:blip r:embed="rId5"/>
          <a:srcRect/>
          <a:stretch/>
        </p:blipFill>
        <p:spPr bwMode="auto">
          <a:xfrm>
            <a:off x="7867509" y="2121936"/>
            <a:ext cx="1335652" cy="1343463"/>
          </a:xfrm>
          <a:prstGeom prst="rect">
            <a:avLst/>
          </a:prstGeom>
          <a:noFill/>
          <a:extLst>
            <a:ext uri="{909E8E84-426E-40DD-AFC4-6F175D3DCCD1}">
              <a14:hiddenFill xmlns:a14="http://schemas.microsoft.com/office/drawing/2010/main">
                <a:solidFill>
                  <a:srgbClr val="FFFFFF"/>
                </a:solidFill>
              </a14:hiddenFill>
            </a:ext>
          </a:extLst>
        </p:spPr>
      </p:pic>
      <p:sp>
        <p:nvSpPr>
          <p:cNvPr id="14" name="Subtitle 2">
            <a:extLst>
              <a:ext uri="{FF2B5EF4-FFF2-40B4-BE49-F238E27FC236}">
                <a16:creationId xmlns:a16="http://schemas.microsoft.com/office/drawing/2014/main" id="{CAD73171-EE75-FFD8-FB13-76186496A222}"/>
              </a:ext>
            </a:extLst>
          </p:cNvPr>
          <p:cNvSpPr txBox="1">
            <a:spLocks/>
          </p:cNvSpPr>
          <p:nvPr/>
        </p:nvSpPr>
        <p:spPr>
          <a:xfrm>
            <a:off x="4308795" y="1662661"/>
            <a:ext cx="3033537" cy="885432"/>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BD" cap="small" dirty="0"/>
              <a:t>Submitted by – </a:t>
            </a:r>
            <a:r>
              <a:rPr lang="en-US" cap="small" dirty="0"/>
              <a:t>Cor Machina</a:t>
            </a:r>
            <a:endParaRPr lang="en-BD" sz="2800" cap="small" dirty="0"/>
          </a:p>
        </p:txBody>
      </p:sp>
      <p:sp>
        <p:nvSpPr>
          <p:cNvPr id="15" name="Subtitle 2">
            <a:extLst>
              <a:ext uri="{FF2B5EF4-FFF2-40B4-BE49-F238E27FC236}">
                <a16:creationId xmlns:a16="http://schemas.microsoft.com/office/drawing/2014/main" id="{36A5FB2F-9F79-C8D5-D655-478AFDCB33B2}"/>
              </a:ext>
            </a:extLst>
          </p:cNvPr>
          <p:cNvSpPr txBox="1">
            <a:spLocks/>
          </p:cNvSpPr>
          <p:nvPr/>
        </p:nvSpPr>
        <p:spPr>
          <a:xfrm>
            <a:off x="113415" y="3454489"/>
            <a:ext cx="2730192" cy="885432"/>
          </a:xfrm>
          <a:prstGeom prst="rect">
            <a:avLst/>
          </a:prstGeom>
        </p:spPr>
        <p:txBody>
          <a:bodyPr vert="horz" lIns="91440" tIns="45720" rIns="91440" bIns="45720" rtlCol="0" anchor="t">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US" sz="1200" dirty="0"/>
              <a:t>Mubeen Raisul Hassan Chowdhury</a:t>
            </a:r>
            <a:endParaRPr lang="en-BD" sz="1200" dirty="0"/>
          </a:p>
          <a:p>
            <a:r>
              <a:rPr lang="en-US" sz="2000" dirty="0" smtClean="0"/>
              <a:t>220021308</a:t>
            </a:r>
            <a:endParaRPr lang="en-BD" sz="2000" dirty="0"/>
          </a:p>
        </p:txBody>
      </p:sp>
      <p:sp>
        <p:nvSpPr>
          <p:cNvPr id="17" name="Subtitle 2">
            <a:extLst>
              <a:ext uri="{FF2B5EF4-FFF2-40B4-BE49-F238E27FC236}">
                <a16:creationId xmlns:a16="http://schemas.microsoft.com/office/drawing/2014/main" id="{51C39362-A4EA-4360-A4C5-1A01BE1908B6}"/>
              </a:ext>
            </a:extLst>
          </p:cNvPr>
          <p:cNvSpPr txBox="1">
            <a:spLocks/>
          </p:cNvSpPr>
          <p:nvPr/>
        </p:nvSpPr>
        <p:spPr>
          <a:xfrm>
            <a:off x="9578470" y="3477218"/>
            <a:ext cx="2350475" cy="885432"/>
          </a:xfrm>
          <a:prstGeom prst="rect">
            <a:avLst/>
          </a:prstGeom>
        </p:spPr>
        <p:txBody>
          <a:bodyPr vert="horz" lIns="91440" tIns="45720" rIns="91440" bIns="45720" rtlCol="0" anchor="t">
            <a:norm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600" kern="1200" spc="80" baseline="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US" sz="1200" dirty="0"/>
              <a:t>An-Nafi Ahasan</a:t>
            </a:r>
            <a:endParaRPr lang="en-BD" sz="1200" dirty="0"/>
          </a:p>
          <a:p>
            <a:r>
              <a:rPr lang="en-US" sz="2000" dirty="0" smtClean="0"/>
              <a:t>220021152</a:t>
            </a:r>
            <a:endParaRPr lang="en-BD" sz="2000" dirty="0"/>
          </a:p>
        </p:txBody>
      </p:sp>
      <p:pic>
        <p:nvPicPr>
          <p:cNvPr id="18" name="Picture 2">
            <a:extLst>
              <a:ext uri="{FF2B5EF4-FFF2-40B4-BE49-F238E27FC236}">
                <a16:creationId xmlns:a16="http://schemas.microsoft.com/office/drawing/2014/main" id="{BD843510-D04D-421C-B295-8B20E7D0B3B3}"/>
              </a:ext>
            </a:extLst>
          </p:cNvPr>
          <p:cNvPicPr>
            <a:picLocks noChangeAspect="1" noChangeArrowheads="1"/>
          </p:cNvPicPr>
          <p:nvPr/>
        </p:nvPicPr>
        <p:blipFill>
          <a:blip r:embed="rId6"/>
          <a:srcRect/>
          <a:stretch/>
        </p:blipFill>
        <p:spPr bwMode="auto">
          <a:xfrm>
            <a:off x="10217984" y="2131385"/>
            <a:ext cx="1120575" cy="1343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4721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501F14-DB78-E388-030D-1FDF3AAB9CE2}"/>
              </a:ext>
            </a:extLst>
          </p:cNvPr>
          <p:cNvSpPr>
            <a:spLocks noGrp="1"/>
          </p:cNvSpPr>
          <p:nvPr>
            <p:ph idx="1"/>
          </p:nvPr>
        </p:nvSpPr>
        <p:spPr/>
        <p:txBody>
          <a:bodyPr/>
          <a:lstStyle/>
          <a:p>
            <a:pPr marL="514350" indent="-514350">
              <a:buFont typeface="+mj-lt"/>
              <a:buAutoNum type="arabicPeriod"/>
            </a:pPr>
            <a:r>
              <a:rPr lang="en-US" smtClean="0"/>
              <a:t>Abstract</a:t>
            </a:r>
            <a:endParaRPr lang="en-US" dirty="0"/>
          </a:p>
          <a:p>
            <a:pPr marL="514350" indent="-514350">
              <a:buFont typeface="+mj-lt"/>
              <a:buAutoNum type="arabicPeriod"/>
            </a:pPr>
            <a:r>
              <a:rPr lang="en-US" dirty="0"/>
              <a:t>Introduction</a:t>
            </a:r>
          </a:p>
          <a:p>
            <a:pPr marL="514350" indent="-514350">
              <a:buFont typeface="+mj-lt"/>
              <a:buAutoNum type="arabicPeriod"/>
            </a:pPr>
            <a:r>
              <a:rPr lang="en-US" dirty="0"/>
              <a:t>Design</a:t>
            </a:r>
          </a:p>
          <a:p>
            <a:pPr marL="514350" indent="-514350">
              <a:buFont typeface="+mj-lt"/>
              <a:buAutoNum type="arabicPeriod"/>
            </a:pPr>
            <a:r>
              <a:rPr lang="en-US" dirty="0"/>
              <a:t>Implementation</a:t>
            </a:r>
          </a:p>
          <a:p>
            <a:pPr marL="514350" indent="-514350">
              <a:buFont typeface="+mj-lt"/>
              <a:buAutoNum type="arabicPeriod"/>
            </a:pPr>
            <a:r>
              <a:rPr lang="en-US" dirty="0"/>
              <a:t>Analysis and Evaluation</a:t>
            </a:r>
          </a:p>
          <a:p>
            <a:pPr marL="514350" indent="-514350">
              <a:buFont typeface="+mj-lt"/>
              <a:buAutoNum type="arabicPeriod"/>
            </a:pPr>
            <a:r>
              <a:rPr lang="en-US" dirty="0"/>
              <a:t>References</a:t>
            </a:r>
          </a:p>
          <a:p>
            <a:pPr marL="0" indent="0">
              <a:buNone/>
            </a:pPr>
            <a:endParaRPr lang="en-US" dirty="0"/>
          </a:p>
        </p:txBody>
      </p:sp>
      <p:sp>
        <p:nvSpPr>
          <p:cNvPr id="3" name="Title 2">
            <a:extLst>
              <a:ext uri="{FF2B5EF4-FFF2-40B4-BE49-F238E27FC236}">
                <a16:creationId xmlns:a16="http://schemas.microsoft.com/office/drawing/2014/main" id="{11F197D7-5C03-1245-37BF-DB1A7E1A59EF}"/>
              </a:ext>
            </a:extLst>
          </p:cNvPr>
          <p:cNvSpPr>
            <a:spLocks noGrp="1"/>
          </p:cNvSpPr>
          <p:nvPr>
            <p:ph type="title"/>
          </p:nvPr>
        </p:nvSpPr>
        <p:spPr/>
        <p:txBody>
          <a:bodyPr/>
          <a:lstStyle/>
          <a:p>
            <a:r>
              <a:rPr lang="en-US" b="1" dirty="0"/>
              <a:t>Outline</a:t>
            </a:r>
          </a:p>
        </p:txBody>
      </p:sp>
      <p:sp>
        <p:nvSpPr>
          <p:cNvPr id="4" name="Date Placeholder 3">
            <a:extLst>
              <a:ext uri="{FF2B5EF4-FFF2-40B4-BE49-F238E27FC236}">
                <a16:creationId xmlns:a16="http://schemas.microsoft.com/office/drawing/2014/main" id="{725F00F5-59B5-1420-D23F-697A5A34614A}"/>
              </a:ext>
            </a:extLst>
          </p:cNvPr>
          <p:cNvSpPr>
            <a:spLocks noGrp="1"/>
          </p:cNvSpPr>
          <p:nvPr>
            <p:ph type="dt" sz="half" idx="10"/>
          </p:nvPr>
        </p:nvSpPr>
        <p:spPr>
          <a:xfrm>
            <a:off x="838199" y="6356350"/>
            <a:ext cx="3103881" cy="365125"/>
          </a:xfrm>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2C16BD46-E23B-F8A4-30DE-F79EC1BEC287}"/>
              </a:ext>
            </a:extLst>
          </p:cNvPr>
          <p:cNvSpPr>
            <a:spLocks noGrp="1"/>
          </p:cNvSpPr>
          <p:nvPr>
            <p:ph type="ftr" sz="quarter" idx="11"/>
          </p:nvPr>
        </p:nvSpPr>
        <p:spPr/>
        <p:txBody>
          <a:bodyPr/>
          <a:lstStyle/>
          <a:p>
            <a:r>
              <a:rPr lang="en-US" dirty="0"/>
              <a:t>Presented By – </a:t>
            </a:r>
            <a:r>
              <a:rPr lang="en-US" dirty="0">
                <a:solidFill>
                  <a:srgbClr val="FFFF00"/>
                </a:solidFill>
              </a:rPr>
              <a:t>220021308</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9CFA444C-4111-D572-4192-D019D3963AB6}"/>
              </a:ext>
            </a:extLst>
          </p:cNvPr>
          <p:cNvSpPr>
            <a:spLocks noGrp="1"/>
          </p:cNvSpPr>
          <p:nvPr>
            <p:ph type="sldNum" sz="quarter" idx="12"/>
          </p:nvPr>
        </p:nvSpPr>
        <p:spPr/>
        <p:txBody>
          <a:bodyPr/>
          <a:lstStyle/>
          <a:p>
            <a:fld id="{1DCA6118-F558-4478-80BF-767359AFE687}" type="slidenum">
              <a:rPr lang="en-US" smtClean="0"/>
              <a:t>2</a:t>
            </a:fld>
            <a:endParaRPr lang="en-US"/>
          </a:p>
        </p:txBody>
      </p:sp>
    </p:spTree>
    <p:extLst>
      <p:ext uri="{BB962C8B-B14F-4D97-AF65-F5344CB8AC3E}">
        <p14:creationId xmlns:p14="http://schemas.microsoft.com/office/powerpoint/2010/main" val="26445459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01AAD2-B8BA-F521-4EDF-167C0EA73A47}"/>
              </a:ext>
            </a:extLst>
          </p:cNvPr>
          <p:cNvSpPr>
            <a:spLocks noGrp="1"/>
          </p:cNvSpPr>
          <p:nvPr>
            <p:ph idx="1"/>
          </p:nvPr>
        </p:nvSpPr>
        <p:spPr>
          <a:xfrm>
            <a:off x="838200" y="1482725"/>
            <a:ext cx="10515600" cy="1252855"/>
          </a:xfrm>
        </p:spPr>
        <p:txBody>
          <a:bodyPr/>
          <a:lstStyle/>
          <a:p>
            <a:pPr marL="0" indent="0" algn="just">
              <a:buNone/>
            </a:pPr>
            <a:r>
              <a:rPr lang="en-US" dirty="0"/>
              <a:t>PCR Machine is a laboratory device mainly used in bio-medical field. The goal of this project is to make a prototype working PCR machine within a small budget.</a:t>
            </a:r>
            <a:endParaRPr lang="en-BD" dirty="0"/>
          </a:p>
        </p:txBody>
      </p:sp>
      <p:sp>
        <p:nvSpPr>
          <p:cNvPr id="3" name="Title 2">
            <a:extLst>
              <a:ext uri="{FF2B5EF4-FFF2-40B4-BE49-F238E27FC236}">
                <a16:creationId xmlns:a16="http://schemas.microsoft.com/office/drawing/2014/main" id="{322C0958-53E1-598D-24F5-D7DBBB9EB86C}"/>
              </a:ext>
            </a:extLst>
          </p:cNvPr>
          <p:cNvSpPr>
            <a:spLocks noGrp="1"/>
          </p:cNvSpPr>
          <p:nvPr>
            <p:ph type="title"/>
          </p:nvPr>
        </p:nvSpPr>
        <p:spPr/>
        <p:txBody>
          <a:bodyPr/>
          <a:lstStyle/>
          <a:p>
            <a:r>
              <a:rPr lang="en-US" dirty="0"/>
              <a:t>1. Abstract</a:t>
            </a:r>
          </a:p>
        </p:txBody>
      </p:sp>
      <p:sp>
        <p:nvSpPr>
          <p:cNvPr id="4" name="Date Placeholder 3">
            <a:extLst>
              <a:ext uri="{FF2B5EF4-FFF2-40B4-BE49-F238E27FC236}">
                <a16:creationId xmlns:a16="http://schemas.microsoft.com/office/drawing/2014/main" id="{54044D6A-DF16-5AC2-43A2-D9BE79F9A1BF}"/>
              </a:ext>
            </a:extLst>
          </p:cNvPr>
          <p:cNvSpPr>
            <a:spLocks noGrp="1"/>
          </p:cNvSpPr>
          <p:nvPr>
            <p:ph type="dt" sz="half" idx="10"/>
          </p:nvPr>
        </p:nvSpPr>
        <p:spPr>
          <a:xfrm>
            <a:off x="838199" y="6356350"/>
            <a:ext cx="3200401" cy="365125"/>
          </a:xfrm>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14DDC655-9DA4-FB9C-0352-441F766B3F15}"/>
              </a:ext>
            </a:extLst>
          </p:cNvPr>
          <p:cNvSpPr>
            <a:spLocks noGrp="1"/>
          </p:cNvSpPr>
          <p:nvPr>
            <p:ph type="ftr" sz="quarter" idx="11"/>
          </p:nvPr>
        </p:nvSpPr>
        <p:spPr/>
        <p:txBody>
          <a:bodyPr/>
          <a:lstStyle/>
          <a:p>
            <a:r>
              <a:rPr lang="en-US" dirty="0"/>
              <a:t>Presented By – </a:t>
            </a:r>
            <a:r>
              <a:rPr lang="en-US" dirty="0">
                <a:solidFill>
                  <a:srgbClr val="FFFF00"/>
                </a:solidFill>
              </a:rPr>
              <a:t>220021308</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FF7F0295-31D4-6930-A6C6-88FAAE7D10E1}"/>
              </a:ext>
            </a:extLst>
          </p:cNvPr>
          <p:cNvSpPr>
            <a:spLocks noGrp="1"/>
          </p:cNvSpPr>
          <p:nvPr>
            <p:ph type="sldNum" sz="quarter" idx="12"/>
          </p:nvPr>
        </p:nvSpPr>
        <p:spPr/>
        <p:txBody>
          <a:bodyPr/>
          <a:lstStyle/>
          <a:p>
            <a:fld id="{1DCA6118-F558-4478-80BF-767359AFE687}" type="slidenum">
              <a:rPr lang="en-US" smtClean="0"/>
              <a:t>3</a:t>
            </a:fld>
            <a:endParaRPr lang="en-US"/>
          </a:p>
        </p:txBody>
      </p:sp>
      <p:pic>
        <p:nvPicPr>
          <p:cNvPr id="7" name="Picture 6"/>
          <p:cNvPicPr>
            <a:picLocks noChangeAspect="1"/>
          </p:cNvPicPr>
          <p:nvPr/>
        </p:nvPicPr>
        <p:blipFill>
          <a:blip r:embed="rId2"/>
          <a:stretch>
            <a:fillRect/>
          </a:stretch>
        </p:blipFill>
        <p:spPr>
          <a:xfrm>
            <a:off x="480602" y="2808288"/>
            <a:ext cx="5698296" cy="2997984"/>
          </a:xfrm>
          <a:prstGeom prst="rect">
            <a:avLst/>
          </a:prstGeom>
        </p:spPr>
      </p:pic>
      <p:pic>
        <p:nvPicPr>
          <p:cNvPr id="9" name="Picture 8"/>
          <p:cNvPicPr>
            <a:picLocks noChangeAspect="1"/>
          </p:cNvPicPr>
          <p:nvPr/>
        </p:nvPicPr>
        <p:blipFill>
          <a:blip r:embed="rId3"/>
          <a:stretch>
            <a:fillRect/>
          </a:stretch>
        </p:blipFill>
        <p:spPr>
          <a:xfrm>
            <a:off x="6381037" y="2968815"/>
            <a:ext cx="5235373" cy="2676930"/>
          </a:xfrm>
          <a:prstGeom prst="rect">
            <a:avLst/>
          </a:prstGeom>
        </p:spPr>
      </p:pic>
    </p:spTree>
    <p:extLst>
      <p:ext uri="{BB962C8B-B14F-4D97-AF65-F5344CB8AC3E}">
        <p14:creationId xmlns:p14="http://schemas.microsoft.com/office/powerpoint/2010/main" val="8477153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024EF9-8CD4-AF07-7970-E534751B3D4B}"/>
              </a:ext>
            </a:extLst>
          </p:cNvPr>
          <p:cNvSpPr>
            <a:spLocks noGrp="1"/>
          </p:cNvSpPr>
          <p:nvPr>
            <p:ph idx="1"/>
          </p:nvPr>
        </p:nvSpPr>
        <p:spPr>
          <a:xfrm>
            <a:off x="838200" y="1515986"/>
            <a:ext cx="11008360" cy="1325563"/>
          </a:xfrm>
        </p:spPr>
        <p:txBody>
          <a:bodyPr>
            <a:normAutofit/>
          </a:bodyPr>
          <a:lstStyle/>
          <a:p>
            <a:pPr marL="0" indent="0" algn="just">
              <a:buNone/>
            </a:pPr>
            <a:r>
              <a:rPr lang="en-US" dirty="0"/>
              <a:t>Basically the Existing PCR machines has to be Imported from USA. We are trying to make a working alternative for lower cost of value. Then We tested it at a laboratory and make comparison with the commercial one.</a:t>
            </a:r>
          </a:p>
        </p:txBody>
      </p:sp>
      <p:sp>
        <p:nvSpPr>
          <p:cNvPr id="3" name="Title 2">
            <a:extLst>
              <a:ext uri="{FF2B5EF4-FFF2-40B4-BE49-F238E27FC236}">
                <a16:creationId xmlns:a16="http://schemas.microsoft.com/office/drawing/2014/main" id="{5AB2BF70-C6B1-8344-C294-23205BD36D37}"/>
              </a:ext>
            </a:extLst>
          </p:cNvPr>
          <p:cNvSpPr>
            <a:spLocks noGrp="1"/>
          </p:cNvSpPr>
          <p:nvPr>
            <p:ph type="title"/>
          </p:nvPr>
        </p:nvSpPr>
        <p:spPr/>
        <p:txBody>
          <a:bodyPr/>
          <a:lstStyle/>
          <a:p>
            <a:r>
              <a:rPr lang="en-US" dirty="0"/>
              <a:t>2. Introduction</a:t>
            </a:r>
          </a:p>
        </p:txBody>
      </p:sp>
      <p:sp>
        <p:nvSpPr>
          <p:cNvPr id="4" name="Date Placeholder 3">
            <a:extLst>
              <a:ext uri="{FF2B5EF4-FFF2-40B4-BE49-F238E27FC236}">
                <a16:creationId xmlns:a16="http://schemas.microsoft.com/office/drawing/2014/main" id="{9C77D0C2-30F8-9E93-12D1-98F0FA01DAE1}"/>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36486E43-2849-DE71-8F42-ADEDB9EC0A7E}"/>
              </a:ext>
            </a:extLst>
          </p:cNvPr>
          <p:cNvSpPr>
            <a:spLocks noGrp="1"/>
          </p:cNvSpPr>
          <p:nvPr>
            <p:ph type="ftr" sz="quarter" idx="11"/>
          </p:nvPr>
        </p:nvSpPr>
        <p:spPr/>
        <p:txBody>
          <a:bodyPr/>
          <a:lstStyle/>
          <a:p>
            <a:r>
              <a:rPr lang="en-US" dirty="0"/>
              <a:t>Presented By – </a:t>
            </a:r>
            <a:r>
              <a:rPr lang="en-US" dirty="0">
                <a:solidFill>
                  <a:srgbClr val="FFFF00"/>
                </a:solidFill>
              </a:rPr>
              <a:t>220021308</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4AEA0665-47C8-58D5-9B34-75B954204726}"/>
              </a:ext>
            </a:extLst>
          </p:cNvPr>
          <p:cNvSpPr>
            <a:spLocks noGrp="1"/>
          </p:cNvSpPr>
          <p:nvPr>
            <p:ph type="sldNum" sz="quarter" idx="12"/>
          </p:nvPr>
        </p:nvSpPr>
        <p:spPr/>
        <p:txBody>
          <a:bodyPr/>
          <a:lstStyle/>
          <a:p>
            <a:fld id="{1DCA6118-F558-4478-80BF-767359AFE687}" type="slidenum">
              <a:rPr lang="en-US" smtClean="0"/>
              <a:t>4</a:t>
            </a:fld>
            <a:endParaRPr lang="en-US"/>
          </a:p>
        </p:txBody>
      </p:sp>
      <p:pic>
        <p:nvPicPr>
          <p:cNvPr id="1026" name="Picture 2">
            <a:extLst>
              <a:ext uri="{FF2B5EF4-FFF2-40B4-BE49-F238E27FC236}">
                <a16:creationId xmlns:a16="http://schemas.microsoft.com/office/drawing/2014/main" id="{77DAAC4D-C610-422C-AEBF-6A8B3502034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113" r="1270" b="11985"/>
          <a:stretch/>
        </p:blipFill>
        <p:spPr bwMode="auto">
          <a:xfrm>
            <a:off x="1676271" y="3007360"/>
            <a:ext cx="4221274" cy="290323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742C7AA6-8610-43CC-918C-5A094C4EAB55}"/>
              </a:ext>
            </a:extLst>
          </p:cNvPr>
          <p:cNvPicPr>
            <a:picLocks noChangeAspect="1"/>
          </p:cNvPicPr>
          <p:nvPr/>
        </p:nvPicPr>
        <p:blipFill rotWithShape="1">
          <a:blip r:embed="rId3"/>
          <a:srcRect r="1277" b="22471"/>
          <a:stretch/>
        </p:blipFill>
        <p:spPr>
          <a:xfrm>
            <a:off x="6294457" y="3007360"/>
            <a:ext cx="4795408" cy="2824479"/>
          </a:xfrm>
          <a:prstGeom prst="rect">
            <a:avLst/>
          </a:prstGeom>
        </p:spPr>
      </p:pic>
    </p:spTree>
    <p:extLst>
      <p:ext uri="{BB962C8B-B14F-4D97-AF65-F5344CB8AC3E}">
        <p14:creationId xmlns:p14="http://schemas.microsoft.com/office/powerpoint/2010/main" val="31398797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E9A15A-8504-9AA7-D100-938DEBFC905E}"/>
              </a:ext>
            </a:extLst>
          </p:cNvPr>
          <p:cNvSpPr>
            <a:spLocks noGrp="1"/>
          </p:cNvSpPr>
          <p:nvPr>
            <p:ph idx="1"/>
          </p:nvPr>
        </p:nvSpPr>
        <p:spPr>
          <a:xfrm>
            <a:off x="838200" y="1413352"/>
            <a:ext cx="10515600" cy="554672"/>
          </a:xfrm>
        </p:spPr>
        <p:txBody>
          <a:bodyPr/>
          <a:lstStyle/>
          <a:p>
            <a:pPr marL="0" indent="0" algn="just">
              <a:buNone/>
            </a:pPr>
            <a:r>
              <a:rPr lang="en-US" dirty="0"/>
              <a:t>Component List:</a:t>
            </a:r>
          </a:p>
        </p:txBody>
      </p:sp>
      <p:sp>
        <p:nvSpPr>
          <p:cNvPr id="3" name="Title 2">
            <a:extLst>
              <a:ext uri="{FF2B5EF4-FFF2-40B4-BE49-F238E27FC236}">
                <a16:creationId xmlns:a16="http://schemas.microsoft.com/office/drawing/2014/main" id="{95E50F83-721B-BB4A-D177-41C1F1551697}"/>
              </a:ext>
            </a:extLst>
          </p:cNvPr>
          <p:cNvSpPr>
            <a:spLocks noGrp="1"/>
          </p:cNvSpPr>
          <p:nvPr>
            <p:ph type="title"/>
          </p:nvPr>
        </p:nvSpPr>
        <p:spPr/>
        <p:txBody>
          <a:bodyPr/>
          <a:lstStyle/>
          <a:p>
            <a:r>
              <a:rPr lang="en-US" dirty="0"/>
              <a:t>3.1 Design: Methods</a:t>
            </a:r>
          </a:p>
        </p:txBody>
      </p:sp>
      <p:sp>
        <p:nvSpPr>
          <p:cNvPr id="4" name="Date Placeholder 3">
            <a:extLst>
              <a:ext uri="{FF2B5EF4-FFF2-40B4-BE49-F238E27FC236}">
                <a16:creationId xmlns:a16="http://schemas.microsoft.com/office/drawing/2014/main" id="{598E7779-61E2-5209-A8B2-33B515067AD5}"/>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AD728AC4-96E0-C005-1317-7C2EC612CF0B}"/>
              </a:ext>
            </a:extLst>
          </p:cNvPr>
          <p:cNvSpPr>
            <a:spLocks noGrp="1"/>
          </p:cNvSpPr>
          <p:nvPr>
            <p:ph type="ftr" sz="quarter" idx="11"/>
          </p:nvPr>
        </p:nvSpPr>
        <p:spPr/>
        <p:txBody>
          <a:bodyPr/>
          <a:lstStyle/>
          <a:p>
            <a:r>
              <a:rPr lang="en-US" dirty="0"/>
              <a:t>Presented By – </a:t>
            </a:r>
            <a:r>
              <a:rPr lang="en-US" dirty="0">
                <a:solidFill>
                  <a:srgbClr val="FFFF00"/>
                </a:solidFill>
              </a:rPr>
              <a:t>220021308</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ECF0019E-5264-6256-2C6C-7012531DE882}"/>
              </a:ext>
            </a:extLst>
          </p:cNvPr>
          <p:cNvSpPr>
            <a:spLocks noGrp="1"/>
          </p:cNvSpPr>
          <p:nvPr>
            <p:ph type="sldNum" sz="quarter" idx="12"/>
          </p:nvPr>
        </p:nvSpPr>
        <p:spPr/>
        <p:txBody>
          <a:bodyPr/>
          <a:lstStyle/>
          <a:p>
            <a:fld id="{1DCA6118-F558-4478-80BF-767359AFE687}" type="slidenum">
              <a:rPr lang="en-US" smtClean="0"/>
              <a:t>5</a:t>
            </a:fld>
            <a:endParaRPr lang="en-US"/>
          </a:p>
        </p:txBody>
      </p:sp>
      <p:sp>
        <p:nvSpPr>
          <p:cNvPr id="7" name="Content Placeholder 1">
            <a:extLst>
              <a:ext uri="{FF2B5EF4-FFF2-40B4-BE49-F238E27FC236}">
                <a16:creationId xmlns:a16="http://schemas.microsoft.com/office/drawing/2014/main" id="{BDA4C921-866C-47A4-A608-57AA2A18DEBD}"/>
              </a:ext>
            </a:extLst>
          </p:cNvPr>
          <p:cNvSpPr txBox="1">
            <a:spLocks/>
          </p:cNvSpPr>
          <p:nvPr/>
        </p:nvSpPr>
        <p:spPr>
          <a:xfrm>
            <a:off x="1508760" y="2043272"/>
            <a:ext cx="7696200" cy="5546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Aluminum Block for Thermal Conduction </a:t>
            </a:r>
          </a:p>
        </p:txBody>
      </p:sp>
      <p:pic>
        <p:nvPicPr>
          <p:cNvPr id="8" name="Picture 7">
            <a:extLst>
              <a:ext uri="{FF2B5EF4-FFF2-40B4-BE49-F238E27FC236}">
                <a16:creationId xmlns:a16="http://schemas.microsoft.com/office/drawing/2014/main" id="{817EC723-D09F-48A0-B97B-B466DF91F0D9}"/>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071880" y="2597944"/>
            <a:ext cx="4028440" cy="3330416"/>
          </a:xfrm>
          <a:prstGeom prst="rect">
            <a:avLst/>
          </a:prstGeom>
        </p:spPr>
      </p:pic>
      <p:sp>
        <p:nvSpPr>
          <p:cNvPr id="9" name="Content Placeholder 1">
            <a:extLst>
              <a:ext uri="{FF2B5EF4-FFF2-40B4-BE49-F238E27FC236}">
                <a16:creationId xmlns:a16="http://schemas.microsoft.com/office/drawing/2014/main" id="{FBC8760B-3D10-4DC2-A627-EF2A3C6FBE93}"/>
              </a:ext>
            </a:extLst>
          </p:cNvPr>
          <p:cNvSpPr txBox="1">
            <a:spLocks/>
          </p:cNvSpPr>
          <p:nvPr/>
        </p:nvSpPr>
        <p:spPr>
          <a:xfrm>
            <a:off x="5537200" y="2855438"/>
            <a:ext cx="6461760" cy="30170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gn="just">
              <a:buAutoNum type="alphaLcPeriod"/>
            </a:pPr>
            <a:r>
              <a:rPr lang="en-US" dirty="0"/>
              <a:t>Prototype designed in Solid </a:t>
            </a:r>
            <a:r>
              <a:rPr lang="en-US" dirty="0" smtClean="0"/>
              <a:t>Works</a:t>
            </a:r>
            <a:endParaRPr lang="en-US" dirty="0"/>
          </a:p>
          <a:p>
            <a:pPr marL="514350" indent="-514350" algn="just">
              <a:buAutoNum type="alphaLcPeriod"/>
            </a:pPr>
            <a:endParaRPr lang="en-US" dirty="0"/>
          </a:p>
          <a:p>
            <a:pPr marL="514350" indent="-514350" algn="just">
              <a:buFont typeface="Arial" panose="020B0604020202020204" pitchFamily="34" charset="0"/>
              <a:buAutoNum type="alphaLcPeriod"/>
            </a:pPr>
            <a:r>
              <a:rPr lang="en-US" dirty="0"/>
              <a:t>Holes </a:t>
            </a:r>
            <a:r>
              <a:rPr lang="en-US" dirty="0" smtClean="0"/>
              <a:t>made </a:t>
            </a:r>
            <a:r>
              <a:rPr lang="en-US" dirty="0"/>
              <a:t>according to the Tube diameter and length.</a:t>
            </a:r>
          </a:p>
          <a:p>
            <a:pPr marL="514350" indent="-514350" algn="just">
              <a:buFont typeface="Arial" panose="020B0604020202020204" pitchFamily="34" charset="0"/>
              <a:buAutoNum type="alphaLcPeriod"/>
            </a:pPr>
            <a:endParaRPr lang="en-US" dirty="0"/>
          </a:p>
          <a:p>
            <a:pPr marL="514350" indent="-514350" algn="just">
              <a:buFont typeface="Arial" panose="020B0604020202020204" pitchFamily="34" charset="0"/>
              <a:buAutoNum type="alphaLcPeriod"/>
            </a:pPr>
            <a:r>
              <a:rPr lang="en-US" dirty="0"/>
              <a:t>Manufactured by a machinery workshop</a:t>
            </a:r>
          </a:p>
          <a:p>
            <a:pPr marL="514350" indent="-514350" algn="just">
              <a:buAutoNum type="alphaLcPeriod"/>
            </a:pPr>
            <a:endParaRPr lang="en-US" dirty="0"/>
          </a:p>
          <a:p>
            <a:pPr marL="0" indent="0" algn="just">
              <a:buNone/>
            </a:pPr>
            <a:endParaRPr lang="en-US" dirty="0"/>
          </a:p>
        </p:txBody>
      </p:sp>
    </p:spTree>
    <p:extLst>
      <p:ext uri="{BB962C8B-B14F-4D97-AF65-F5344CB8AC3E}">
        <p14:creationId xmlns:p14="http://schemas.microsoft.com/office/powerpoint/2010/main" val="32752582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E9A15A-8504-9AA7-D100-938DEBFC905E}"/>
              </a:ext>
            </a:extLst>
          </p:cNvPr>
          <p:cNvSpPr>
            <a:spLocks noGrp="1"/>
          </p:cNvSpPr>
          <p:nvPr>
            <p:ph idx="1"/>
          </p:nvPr>
        </p:nvSpPr>
        <p:spPr>
          <a:xfrm>
            <a:off x="838200" y="1413352"/>
            <a:ext cx="10515600" cy="554672"/>
          </a:xfrm>
        </p:spPr>
        <p:txBody>
          <a:bodyPr/>
          <a:lstStyle/>
          <a:p>
            <a:pPr marL="0" indent="0" algn="just">
              <a:buNone/>
            </a:pPr>
            <a:r>
              <a:rPr lang="en-US" dirty="0"/>
              <a:t>Component List: (Power System)</a:t>
            </a:r>
          </a:p>
        </p:txBody>
      </p:sp>
      <p:sp>
        <p:nvSpPr>
          <p:cNvPr id="3" name="Title 2">
            <a:extLst>
              <a:ext uri="{FF2B5EF4-FFF2-40B4-BE49-F238E27FC236}">
                <a16:creationId xmlns:a16="http://schemas.microsoft.com/office/drawing/2014/main" id="{95E50F83-721B-BB4A-D177-41C1F1551697}"/>
              </a:ext>
            </a:extLst>
          </p:cNvPr>
          <p:cNvSpPr>
            <a:spLocks noGrp="1"/>
          </p:cNvSpPr>
          <p:nvPr>
            <p:ph type="title"/>
          </p:nvPr>
        </p:nvSpPr>
        <p:spPr/>
        <p:txBody>
          <a:bodyPr/>
          <a:lstStyle/>
          <a:p>
            <a:r>
              <a:rPr lang="en-US" dirty="0"/>
              <a:t>3.1 Design: Methods</a:t>
            </a:r>
          </a:p>
        </p:txBody>
      </p:sp>
      <p:sp>
        <p:nvSpPr>
          <p:cNvPr id="4" name="Date Placeholder 3">
            <a:extLst>
              <a:ext uri="{FF2B5EF4-FFF2-40B4-BE49-F238E27FC236}">
                <a16:creationId xmlns:a16="http://schemas.microsoft.com/office/drawing/2014/main" id="{598E7779-61E2-5209-A8B2-33B515067AD5}"/>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AD728AC4-96E0-C005-1317-7C2EC612CF0B}"/>
              </a:ext>
            </a:extLst>
          </p:cNvPr>
          <p:cNvSpPr>
            <a:spLocks noGrp="1"/>
          </p:cNvSpPr>
          <p:nvPr>
            <p:ph type="ftr" sz="quarter" idx="11"/>
          </p:nvPr>
        </p:nvSpPr>
        <p:spPr/>
        <p:txBody>
          <a:bodyPr/>
          <a:lstStyle/>
          <a:p>
            <a:r>
              <a:rPr lang="en-US" dirty="0"/>
              <a:t>Presented By – </a:t>
            </a:r>
            <a:r>
              <a:rPr lang="en-US" dirty="0">
                <a:solidFill>
                  <a:srgbClr val="FFFF00"/>
                </a:solidFill>
              </a:rPr>
              <a:t>220021308</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ECF0019E-5264-6256-2C6C-7012531DE882}"/>
              </a:ext>
            </a:extLst>
          </p:cNvPr>
          <p:cNvSpPr>
            <a:spLocks noGrp="1"/>
          </p:cNvSpPr>
          <p:nvPr>
            <p:ph type="sldNum" sz="quarter" idx="12"/>
          </p:nvPr>
        </p:nvSpPr>
        <p:spPr/>
        <p:txBody>
          <a:bodyPr/>
          <a:lstStyle/>
          <a:p>
            <a:fld id="{1DCA6118-F558-4478-80BF-767359AFE687}" type="slidenum">
              <a:rPr lang="en-US" smtClean="0"/>
              <a:t>6</a:t>
            </a:fld>
            <a:endParaRPr lang="en-US"/>
          </a:p>
        </p:txBody>
      </p:sp>
      <p:sp>
        <p:nvSpPr>
          <p:cNvPr id="7" name="Content Placeholder 1">
            <a:extLst>
              <a:ext uri="{FF2B5EF4-FFF2-40B4-BE49-F238E27FC236}">
                <a16:creationId xmlns:a16="http://schemas.microsoft.com/office/drawing/2014/main" id="{BDA4C921-866C-47A4-A608-57AA2A18DEBD}"/>
              </a:ext>
            </a:extLst>
          </p:cNvPr>
          <p:cNvSpPr txBox="1">
            <a:spLocks/>
          </p:cNvSpPr>
          <p:nvPr/>
        </p:nvSpPr>
        <p:spPr>
          <a:xfrm>
            <a:off x="1508760" y="2043272"/>
            <a:ext cx="2948709" cy="5546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SMPS 12V 10A </a:t>
            </a:r>
          </a:p>
        </p:txBody>
      </p:sp>
      <p:pic>
        <p:nvPicPr>
          <p:cNvPr id="8" name="Picture 7">
            <a:extLst>
              <a:ext uri="{FF2B5EF4-FFF2-40B4-BE49-F238E27FC236}">
                <a16:creationId xmlns:a16="http://schemas.microsoft.com/office/drawing/2014/main" id="{817EC723-D09F-48A0-B97B-B466DF91F0D9}"/>
              </a:ext>
            </a:extLst>
          </p:cNvPr>
          <p:cNvPicPr/>
          <p:nvPr/>
        </p:nvPicPr>
        <p:blipFill>
          <a:blip r:embed="rId2"/>
          <a:srcRect/>
          <a:stretch/>
        </p:blipFill>
        <p:spPr>
          <a:xfrm>
            <a:off x="1596611" y="2507139"/>
            <a:ext cx="2773005" cy="2392998"/>
          </a:xfrm>
          <a:prstGeom prst="rect">
            <a:avLst/>
          </a:prstGeom>
        </p:spPr>
      </p:pic>
      <p:sp>
        <p:nvSpPr>
          <p:cNvPr id="10" name="Content Placeholder 1">
            <a:extLst>
              <a:ext uri="{FF2B5EF4-FFF2-40B4-BE49-F238E27FC236}">
                <a16:creationId xmlns:a16="http://schemas.microsoft.com/office/drawing/2014/main" id="{8D6EDCA4-C47C-453B-BFD4-32A5C3DE4888}"/>
              </a:ext>
            </a:extLst>
          </p:cNvPr>
          <p:cNvSpPr txBox="1">
            <a:spLocks/>
          </p:cNvSpPr>
          <p:nvPr/>
        </p:nvSpPr>
        <p:spPr>
          <a:xfrm>
            <a:off x="1508758" y="4889977"/>
            <a:ext cx="2948709" cy="9170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Used for Main Power Supply</a:t>
            </a:r>
          </a:p>
        </p:txBody>
      </p:sp>
      <p:sp>
        <p:nvSpPr>
          <p:cNvPr id="11" name="Content Placeholder 1">
            <a:extLst>
              <a:ext uri="{FF2B5EF4-FFF2-40B4-BE49-F238E27FC236}">
                <a16:creationId xmlns:a16="http://schemas.microsoft.com/office/drawing/2014/main" id="{14C92120-76DB-4482-8305-1769F2E27EAE}"/>
              </a:ext>
            </a:extLst>
          </p:cNvPr>
          <p:cNvSpPr txBox="1">
            <a:spLocks/>
          </p:cNvSpPr>
          <p:nvPr/>
        </p:nvSpPr>
        <p:spPr>
          <a:xfrm>
            <a:off x="4621647" y="2069307"/>
            <a:ext cx="2948709" cy="5546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Rechargeable 9V</a:t>
            </a:r>
          </a:p>
        </p:txBody>
      </p:sp>
      <p:pic>
        <p:nvPicPr>
          <p:cNvPr id="12" name="Picture 11">
            <a:extLst>
              <a:ext uri="{FF2B5EF4-FFF2-40B4-BE49-F238E27FC236}">
                <a16:creationId xmlns:a16="http://schemas.microsoft.com/office/drawing/2014/main" id="{DC7F84E3-66C0-4720-AF3C-6BAE21CC2F32}"/>
              </a:ext>
            </a:extLst>
          </p:cNvPr>
          <p:cNvPicPr/>
          <p:nvPr/>
        </p:nvPicPr>
        <p:blipFill>
          <a:blip r:embed="rId3"/>
          <a:srcRect/>
          <a:stretch/>
        </p:blipFill>
        <p:spPr>
          <a:xfrm>
            <a:off x="4709498" y="2667788"/>
            <a:ext cx="2773005" cy="2123769"/>
          </a:xfrm>
          <a:prstGeom prst="rect">
            <a:avLst/>
          </a:prstGeom>
        </p:spPr>
      </p:pic>
      <p:sp>
        <p:nvSpPr>
          <p:cNvPr id="13" name="Content Placeholder 1">
            <a:extLst>
              <a:ext uri="{FF2B5EF4-FFF2-40B4-BE49-F238E27FC236}">
                <a16:creationId xmlns:a16="http://schemas.microsoft.com/office/drawing/2014/main" id="{D9C6A3B5-D039-4888-AE6C-1047E6A4EBA8}"/>
              </a:ext>
            </a:extLst>
          </p:cNvPr>
          <p:cNvSpPr txBox="1">
            <a:spLocks/>
          </p:cNvSpPr>
          <p:nvPr/>
        </p:nvSpPr>
        <p:spPr>
          <a:xfrm>
            <a:off x="4621645" y="4916012"/>
            <a:ext cx="2948709" cy="9170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Used for Auxiliary  Power Supply</a:t>
            </a:r>
          </a:p>
        </p:txBody>
      </p:sp>
      <p:sp>
        <p:nvSpPr>
          <p:cNvPr id="14" name="Content Placeholder 1">
            <a:extLst>
              <a:ext uri="{FF2B5EF4-FFF2-40B4-BE49-F238E27FC236}">
                <a16:creationId xmlns:a16="http://schemas.microsoft.com/office/drawing/2014/main" id="{FB69B791-01D5-4AEB-AE8D-C58868FF39A7}"/>
              </a:ext>
            </a:extLst>
          </p:cNvPr>
          <p:cNvSpPr txBox="1">
            <a:spLocks/>
          </p:cNvSpPr>
          <p:nvPr/>
        </p:nvSpPr>
        <p:spPr>
          <a:xfrm>
            <a:off x="7734533" y="2043272"/>
            <a:ext cx="2948709" cy="5546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Buck Converter</a:t>
            </a:r>
          </a:p>
        </p:txBody>
      </p:sp>
      <p:pic>
        <p:nvPicPr>
          <p:cNvPr id="15" name="Picture 14">
            <a:extLst>
              <a:ext uri="{FF2B5EF4-FFF2-40B4-BE49-F238E27FC236}">
                <a16:creationId xmlns:a16="http://schemas.microsoft.com/office/drawing/2014/main" id="{2DABD33B-3C95-47CF-B9E9-FB75BCC6D8C7}"/>
              </a:ext>
            </a:extLst>
          </p:cNvPr>
          <p:cNvPicPr/>
          <p:nvPr/>
        </p:nvPicPr>
        <p:blipFill>
          <a:blip r:embed="rId4"/>
          <a:srcRect/>
          <a:stretch/>
        </p:blipFill>
        <p:spPr>
          <a:xfrm>
            <a:off x="8147002" y="2641753"/>
            <a:ext cx="2123769" cy="2123769"/>
          </a:xfrm>
          <a:prstGeom prst="rect">
            <a:avLst/>
          </a:prstGeom>
        </p:spPr>
      </p:pic>
      <p:sp>
        <p:nvSpPr>
          <p:cNvPr id="16" name="Content Placeholder 1">
            <a:extLst>
              <a:ext uri="{FF2B5EF4-FFF2-40B4-BE49-F238E27FC236}">
                <a16:creationId xmlns:a16="http://schemas.microsoft.com/office/drawing/2014/main" id="{8842B3B2-ED7D-4C02-9071-67F1BFD7B4B3}"/>
              </a:ext>
            </a:extLst>
          </p:cNvPr>
          <p:cNvSpPr txBox="1">
            <a:spLocks/>
          </p:cNvSpPr>
          <p:nvPr/>
        </p:nvSpPr>
        <p:spPr>
          <a:xfrm>
            <a:off x="7734531" y="4889977"/>
            <a:ext cx="2948709" cy="9170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To Convert the 12V supply to 9V</a:t>
            </a:r>
          </a:p>
        </p:txBody>
      </p:sp>
    </p:spTree>
    <p:extLst>
      <p:ext uri="{BB962C8B-B14F-4D97-AF65-F5344CB8AC3E}">
        <p14:creationId xmlns:p14="http://schemas.microsoft.com/office/powerpoint/2010/main" val="14849403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E9A15A-8504-9AA7-D100-938DEBFC905E}"/>
              </a:ext>
            </a:extLst>
          </p:cNvPr>
          <p:cNvSpPr>
            <a:spLocks noGrp="1"/>
          </p:cNvSpPr>
          <p:nvPr>
            <p:ph idx="1"/>
          </p:nvPr>
        </p:nvSpPr>
        <p:spPr>
          <a:xfrm>
            <a:off x="838200" y="1413352"/>
            <a:ext cx="10515600" cy="554672"/>
          </a:xfrm>
        </p:spPr>
        <p:txBody>
          <a:bodyPr/>
          <a:lstStyle/>
          <a:p>
            <a:pPr marL="0" indent="0" algn="just">
              <a:buNone/>
            </a:pPr>
            <a:r>
              <a:rPr lang="en-US" dirty="0"/>
              <a:t>Component List: (Heating and cooling System)</a:t>
            </a:r>
          </a:p>
        </p:txBody>
      </p:sp>
      <p:sp>
        <p:nvSpPr>
          <p:cNvPr id="3" name="Title 2">
            <a:extLst>
              <a:ext uri="{FF2B5EF4-FFF2-40B4-BE49-F238E27FC236}">
                <a16:creationId xmlns:a16="http://schemas.microsoft.com/office/drawing/2014/main" id="{95E50F83-721B-BB4A-D177-41C1F1551697}"/>
              </a:ext>
            </a:extLst>
          </p:cNvPr>
          <p:cNvSpPr>
            <a:spLocks noGrp="1"/>
          </p:cNvSpPr>
          <p:nvPr>
            <p:ph type="title"/>
          </p:nvPr>
        </p:nvSpPr>
        <p:spPr/>
        <p:txBody>
          <a:bodyPr/>
          <a:lstStyle/>
          <a:p>
            <a:r>
              <a:rPr lang="en-US" dirty="0"/>
              <a:t>3.1 Design: Methods</a:t>
            </a:r>
          </a:p>
        </p:txBody>
      </p:sp>
      <p:sp>
        <p:nvSpPr>
          <p:cNvPr id="4" name="Date Placeholder 3">
            <a:extLst>
              <a:ext uri="{FF2B5EF4-FFF2-40B4-BE49-F238E27FC236}">
                <a16:creationId xmlns:a16="http://schemas.microsoft.com/office/drawing/2014/main" id="{598E7779-61E2-5209-A8B2-33B515067AD5}"/>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AD728AC4-96E0-C005-1317-7C2EC612CF0B}"/>
              </a:ext>
            </a:extLst>
          </p:cNvPr>
          <p:cNvSpPr>
            <a:spLocks noGrp="1"/>
          </p:cNvSpPr>
          <p:nvPr>
            <p:ph type="ftr" sz="quarter" idx="11"/>
          </p:nvPr>
        </p:nvSpPr>
        <p:spPr/>
        <p:txBody>
          <a:bodyPr/>
          <a:lstStyle/>
          <a:p>
            <a:r>
              <a:rPr lang="en-US" dirty="0"/>
              <a:t>Presented By – </a:t>
            </a:r>
            <a:r>
              <a:rPr lang="en-US" dirty="0">
                <a:solidFill>
                  <a:srgbClr val="FFFF00"/>
                </a:solidFill>
              </a:rPr>
              <a:t>220021308</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ECF0019E-5264-6256-2C6C-7012531DE882}"/>
              </a:ext>
            </a:extLst>
          </p:cNvPr>
          <p:cNvSpPr>
            <a:spLocks noGrp="1"/>
          </p:cNvSpPr>
          <p:nvPr>
            <p:ph type="sldNum" sz="quarter" idx="12"/>
          </p:nvPr>
        </p:nvSpPr>
        <p:spPr/>
        <p:txBody>
          <a:bodyPr/>
          <a:lstStyle/>
          <a:p>
            <a:fld id="{1DCA6118-F558-4478-80BF-767359AFE687}" type="slidenum">
              <a:rPr lang="en-US" smtClean="0"/>
              <a:t>7</a:t>
            </a:fld>
            <a:endParaRPr lang="en-US"/>
          </a:p>
        </p:txBody>
      </p:sp>
      <p:sp>
        <p:nvSpPr>
          <p:cNvPr id="7" name="Content Placeholder 1">
            <a:extLst>
              <a:ext uri="{FF2B5EF4-FFF2-40B4-BE49-F238E27FC236}">
                <a16:creationId xmlns:a16="http://schemas.microsoft.com/office/drawing/2014/main" id="{BDA4C921-866C-47A4-A608-57AA2A18DEBD}"/>
              </a:ext>
            </a:extLst>
          </p:cNvPr>
          <p:cNvSpPr txBox="1">
            <a:spLocks/>
          </p:cNvSpPr>
          <p:nvPr/>
        </p:nvSpPr>
        <p:spPr>
          <a:xfrm>
            <a:off x="1103743" y="2137489"/>
            <a:ext cx="2123770" cy="9729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High Power Resistors </a:t>
            </a:r>
          </a:p>
        </p:txBody>
      </p:sp>
      <p:pic>
        <p:nvPicPr>
          <p:cNvPr id="8" name="Picture 7">
            <a:extLst>
              <a:ext uri="{FF2B5EF4-FFF2-40B4-BE49-F238E27FC236}">
                <a16:creationId xmlns:a16="http://schemas.microsoft.com/office/drawing/2014/main" id="{817EC723-D09F-48A0-B97B-B466DF91F0D9}"/>
              </a:ext>
            </a:extLst>
          </p:cNvPr>
          <p:cNvPicPr/>
          <p:nvPr/>
        </p:nvPicPr>
        <p:blipFill>
          <a:blip r:embed="rId2"/>
          <a:srcRect/>
          <a:stretch/>
        </p:blipFill>
        <p:spPr>
          <a:xfrm>
            <a:off x="1481431" y="3057209"/>
            <a:ext cx="1536645" cy="1808639"/>
          </a:xfrm>
          <a:prstGeom prst="rect">
            <a:avLst/>
          </a:prstGeom>
        </p:spPr>
      </p:pic>
      <p:sp>
        <p:nvSpPr>
          <p:cNvPr id="10" name="Content Placeholder 1">
            <a:extLst>
              <a:ext uri="{FF2B5EF4-FFF2-40B4-BE49-F238E27FC236}">
                <a16:creationId xmlns:a16="http://schemas.microsoft.com/office/drawing/2014/main" id="{8D6EDCA4-C47C-453B-BFD4-32A5C3DE4888}"/>
              </a:ext>
            </a:extLst>
          </p:cNvPr>
          <p:cNvSpPr txBox="1">
            <a:spLocks/>
          </p:cNvSpPr>
          <p:nvPr/>
        </p:nvSpPr>
        <p:spPr>
          <a:xfrm>
            <a:off x="691273" y="4889977"/>
            <a:ext cx="2948709" cy="9170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Used for Heating the Thermal Block</a:t>
            </a:r>
          </a:p>
        </p:txBody>
      </p:sp>
      <p:sp>
        <p:nvSpPr>
          <p:cNvPr id="11" name="Content Placeholder 1">
            <a:extLst>
              <a:ext uri="{FF2B5EF4-FFF2-40B4-BE49-F238E27FC236}">
                <a16:creationId xmlns:a16="http://schemas.microsoft.com/office/drawing/2014/main" id="{14C92120-76DB-4482-8305-1769F2E27EAE}"/>
              </a:ext>
            </a:extLst>
          </p:cNvPr>
          <p:cNvSpPr txBox="1">
            <a:spLocks/>
          </p:cNvSpPr>
          <p:nvPr/>
        </p:nvSpPr>
        <p:spPr>
          <a:xfrm>
            <a:off x="3605201" y="2169948"/>
            <a:ext cx="2948709" cy="9469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Thermoelectric Cooler</a:t>
            </a:r>
          </a:p>
        </p:txBody>
      </p:sp>
      <p:pic>
        <p:nvPicPr>
          <p:cNvPr id="12" name="Picture 11">
            <a:extLst>
              <a:ext uri="{FF2B5EF4-FFF2-40B4-BE49-F238E27FC236}">
                <a16:creationId xmlns:a16="http://schemas.microsoft.com/office/drawing/2014/main" id="{DC7F84E3-66C0-4720-AF3C-6BAE21CC2F32}"/>
              </a:ext>
            </a:extLst>
          </p:cNvPr>
          <p:cNvPicPr/>
          <p:nvPr/>
        </p:nvPicPr>
        <p:blipFill>
          <a:blip r:embed="rId3"/>
          <a:srcRect/>
          <a:stretch/>
        </p:blipFill>
        <p:spPr>
          <a:xfrm>
            <a:off x="3870407" y="2906465"/>
            <a:ext cx="1956771" cy="1956771"/>
          </a:xfrm>
          <a:prstGeom prst="rect">
            <a:avLst/>
          </a:prstGeom>
        </p:spPr>
      </p:pic>
      <p:sp>
        <p:nvSpPr>
          <p:cNvPr id="13" name="Content Placeholder 1">
            <a:extLst>
              <a:ext uri="{FF2B5EF4-FFF2-40B4-BE49-F238E27FC236}">
                <a16:creationId xmlns:a16="http://schemas.microsoft.com/office/drawing/2014/main" id="{D9C6A3B5-D039-4888-AE6C-1047E6A4EBA8}"/>
              </a:ext>
            </a:extLst>
          </p:cNvPr>
          <p:cNvSpPr txBox="1">
            <a:spLocks/>
          </p:cNvSpPr>
          <p:nvPr/>
        </p:nvSpPr>
        <p:spPr>
          <a:xfrm>
            <a:off x="6186641" y="5015721"/>
            <a:ext cx="2948709" cy="9170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Used for Cooling the thermal Block</a:t>
            </a:r>
          </a:p>
        </p:txBody>
      </p:sp>
      <p:sp>
        <p:nvSpPr>
          <p:cNvPr id="14" name="Content Placeholder 1">
            <a:extLst>
              <a:ext uri="{FF2B5EF4-FFF2-40B4-BE49-F238E27FC236}">
                <a16:creationId xmlns:a16="http://schemas.microsoft.com/office/drawing/2014/main" id="{FB69B791-01D5-4AEB-AE8D-C58868FF39A7}"/>
              </a:ext>
            </a:extLst>
          </p:cNvPr>
          <p:cNvSpPr txBox="1">
            <a:spLocks/>
          </p:cNvSpPr>
          <p:nvPr/>
        </p:nvSpPr>
        <p:spPr>
          <a:xfrm>
            <a:off x="6553911" y="2143201"/>
            <a:ext cx="2214170" cy="55467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12V DC Fan</a:t>
            </a:r>
          </a:p>
        </p:txBody>
      </p:sp>
      <p:pic>
        <p:nvPicPr>
          <p:cNvPr id="15" name="Picture 14">
            <a:extLst>
              <a:ext uri="{FF2B5EF4-FFF2-40B4-BE49-F238E27FC236}">
                <a16:creationId xmlns:a16="http://schemas.microsoft.com/office/drawing/2014/main" id="{2DABD33B-3C95-47CF-B9E9-FB75BCC6D8C7}"/>
              </a:ext>
            </a:extLst>
          </p:cNvPr>
          <p:cNvPicPr/>
          <p:nvPr/>
        </p:nvPicPr>
        <p:blipFill>
          <a:blip r:embed="rId4"/>
          <a:srcRect/>
          <a:stretch/>
        </p:blipFill>
        <p:spPr>
          <a:xfrm>
            <a:off x="6604192" y="2660487"/>
            <a:ext cx="2113608" cy="2123769"/>
          </a:xfrm>
          <a:prstGeom prst="rect">
            <a:avLst/>
          </a:prstGeom>
        </p:spPr>
      </p:pic>
      <p:sp>
        <p:nvSpPr>
          <p:cNvPr id="17" name="Content Placeholder 1">
            <a:extLst>
              <a:ext uri="{FF2B5EF4-FFF2-40B4-BE49-F238E27FC236}">
                <a16:creationId xmlns:a16="http://schemas.microsoft.com/office/drawing/2014/main" id="{A5E4E351-937B-4C3B-B081-417E7A83FB10}"/>
              </a:ext>
            </a:extLst>
          </p:cNvPr>
          <p:cNvSpPr txBox="1">
            <a:spLocks/>
          </p:cNvSpPr>
          <p:nvPr/>
        </p:nvSpPr>
        <p:spPr>
          <a:xfrm>
            <a:off x="9189911" y="2143201"/>
            <a:ext cx="2214170" cy="5546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Heatsink</a:t>
            </a:r>
          </a:p>
        </p:txBody>
      </p:sp>
      <p:pic>
        <p:nvPicPr>
          <p:cNvPr id="18" name="Picture 17">
            <a:extLst>
              <a:ext uri="{FF2B5EF4-FFF2-40B4-BE49-F238E27FC236}">
                <a16:creationId xmlns:a16="http://schemas.microsoft.com/office/drawing/2014/main" id="{41042191-F71E-4125-B004-123F818EC151}"/>
              </a:ext>
            </a:extLst>
          </p:cNvPr>
          <p:cNvPicPr/>
          <p:nvPr/>
        </p:nvPicPr>
        <p:blipFill>
          <a:blip r:embed="rId5"/>
          <a:srcRect/>
          <a:stretch/>
        </p:blipFill>
        <p:spPr>
          <a:xfrm>
            <a:off x="9240192" y="2877964"/>
            <a:ext cx="2113608" cy="1688814"/>
          </a:xfrm>
          <a:prstGeom prst="rect">
            <a:avLst/>
          </a:prstGeom>
        </p:spPr>
      </p:pic>
    </p:spTree>
    <p:extLst>
      <p:ext uri="{BB962C8B-B14F-4D97-AF65-F5344CB8AC3E}">
        <p14:creationId xmlns:p14="http://schemas.microsoft.com/office/powerpoint/2010/main" val="15424834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E9A15A-8504-9AA7-D100-938DEBFC905E}"/>
              </a:ext>
            </a:extLst>
          </p:cNvPr>
          <p:cNvSpPr>
            <a:spLocks noGrp="1"/>
          </p:cNvSpPr>
          <p:nvPr>
            <p:ph idx="1"/>
          </p:nvPr>
        </p:nvSpPr>
        <p:spPr>
          <a:xfrm>
            <a:off x="838200" y="1413352"/>
            <a:ext cx="10515600" cy="554672"/>
          </a:xfrm>
        </p:spPr>
        <p:txBody>
          <a:bodyPr/>
          <a:lstStyle/>
          <a:p>
            <a:pPr marL="0" indent="0" algn="just">
              <a:buNone/>
            </a:pPr>
            <a:r>
              <a:rPr lang="en-US" dirty="0"/>
              <a:t>Component List: (Control System)</a:t>
            </a:r>
          </a:p>
        </p:txBody>
      </p:sp>
      <p:sp>
        <p:nvSpPr>
          <p:cNvPr id="3" name="Title 2">
            <a:extLst>
              <a:ext uri="{FF2B5EF4-FFF2-40B4-BE49-F238E27FC236}">
                <a16:creationId xmlns:a16="http://schemas.microsoft.com/office/drawing/2014/main" id="{95E50F83-721B-BB4A-D177-41C1F1551697}"/>
              </a:ext>
            </a:extLst>
          </p:cNvPr>
          <p:cNvSpPr>
            <a:spLocks noGrp="1"/>
          </p:cNvSpPr>
          <p:nvPr>
            <p:ph type="title"/>
          </p:nvPr>
        </p:nvSpPr>
        <p:spPr/>
        <p:txBody>
          <a:bodyPr/>
          <a:lstStyle/>
          <a:p>
            <a:r>
              <a:rPr lang="en-US" dirty="0"/>
              <a:t>3.1 Design: Methods</a:t>
            </a:r>
          </a:p>
        </p:txBody>
      </p:sp>
      <p:sp>
        <p:nvSpPr>
          <p:cNvPr id="4" name="Date Placeholder 3">
            <a:extLst>
              <a:ext uri="{FF2B5EF4-FFF2-40B4-BE49-F238E27FC236}">
                <a16:creationId xmlns:a16="http://schemas.microsoft.com/office/drawing/2014/main" id="{598E7779-61E2-5209-A8B2-33B515067AD5}"/>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AD728AC4-96E0-C005-1317-7C2EC612CF0B}"/>
              </a:ext>
            </a:extLst>
          </p:cNvPr>
          <p:cNvSpPr>
            <a:spLocks noGrp="1"/>
          </p:cNvSpPr>
          <p:nvPr>
            <p:ph type="ftr" sz="quarter" idx="11"/>
          </p:nvPr>
        </p:nvSpPr>
        <p:spPr/>
        <p:txBody>
          <a:bodyPr/>
          <a:lstStyle/>
          <a:p>
            <a:r>
              <a:rPr lang="en-US" dirty="0"/>
              <a:t>Presented By – </a:t>
            </a:r>
            <a:r>
              <a:rPr lang="en-US" dirty="0">
                <a:solidFill>
                  <a:srgbClr val="FFFF00"/>
                </a:solidFill>
              </a:rPr>
              <a:t>220021308</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ECF0019E-5264-6256-2C6C-7012531DE882}"/>
              </a:ext>
            </a:extLst>
          </p:cNvPr>
          <p:cNvSpPr>
            <a:spLocks noGrp="1"/>
          </p:cNvSpPr>
          <p:nvPr>
            <p:ph type="sldNum" sz="quarter" idx="12"/>
          </p:nvPr>
        </p:nvSpPr>
        <p:spPr/>
        <p:txBody>
          <a:bodyPr/>
          <a:lstStyle/>
          <a:p>
            <a:fld id="{1DCA6118-F558-4478-80BF-767359AFE687}" type="slidenum">
              <a:rPr lang="en-US" smtClean="0"/>
              <a:t>8</a:t>
            </a:fld>
            <a:endParaRPr lang="en-US"/>
          </a:p>
        </p:txBody>
      </p:sp>
      <p:sp>
        <p:nvSpPr>
          <p:cNvPr id="7" name="Content Placeholder 1">
            <a:extLst>
              <a:ext uri="{FF2B5EF4-FFF2-40B4-BE49-F238E27FC236}">
                <a16:creationId xmlns:a16="http://schemas.microsoft.com/office/drawing/2014/main" id="{BDA4C921-866C-47A4-A608-57AA2A18DEBD}"/>
              </a:ext>
            </a:extLst>
          </p:cNvPr>
          <p:cNvSpPr txBox="1">
            <a:spLocks/>
          </p:cNvSpPr>
          <p:nvPr/>
        </p:nvSpPr>
        <p:spPr>
          <a:xfrm>
            <a:off x="1103742" y="2137489"/>
            <a:ext cx="4114799" cy="5546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Thermocouple Module</a:t>
            </a:r>
          </a:p>
        </p:txBody>
      </p:sp>
      <p:sp>
        <p:nvSpPr>
          <p:cNvPr id="10" name="Content Placeholder 1">
            <a:extLst>
              <a:ext uri="{FF2B5EF4-FFF2-40B4-BE49-F238E27FC236}">
                <a16:creationId xmlns:a16="http://schemas.microsoft.com/office/drawing/2014/main" id="{8D6EDCA4-C47C-453B-BFD4-32A5C3DE4888}"/>
              </a:ext>
            </a:extLst>
          </p:cNvPr>
          <p:cNvSpPr txBox="1">
            <a:spLocks/>
          </p:cNvSpPr>
          <p:nvPr/>
        </p:nvSpPr>
        <p:spPr>
          <a:xfrm>
            <a:off x="804217" y="4896328"/>
            <a:ext cx="4713847" cy="9170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Used for Temperature Reading and feedback control</a:t>
            </a:r>
          </a:p>
        </p:txBody>
      </p:sp>
      <p:pic>
        <p:nvPicPr>
          <p:cNvPr id="19" name="Picture 18" descr="MAX6675 Module And K Type Thermocouple  in Bangladesh">
            <a:extLst>
              <a:ext uri="{FF2B5EF4-FFF2-40B4-BE49-F238E27FC236}">
                <a16:creationId xmlns:a16="http://schemas.microsoft.com/office/drawing/2014/main" id="{4CD3CEA8-7526-4CD6-A080-8855519B9A42}"/>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4586" y="2641680"/>
            <a:ext cx="2353110" cy="2265839"/>
          </a:xfrm>
          <a:prstGeom prst="rect">
            <a:avLst/>
          </a:prstGeom>
          <a:noFill/>
          <a:ln>
            <a:noFill/>
          </a:ln>
        </p:spPr>
      </p:pic>
      <p:sp>
        <p:nvSpPr>
          <p:cNvPr id="20" name="Content Placeholder 1">
            <a:extLst>
              <a:ext uri="{FF2B5EF4-FFF2-40B4-BE49-F238E27FC236}">
                <a16:creationId xmlns:a16="http://schemas.microsoft.com/office/drawing/2014/main" id="{41076A46-D74D-4EAA-AB96-A38004F9288B}"/>
              </a:ext>
            </a:extLst>
          </p:cNvPr>
          <p:cNvSpPr txBox="1">
            <a:spLocks/>
          </p:cNvSpPr>
          <p:nvPr/>
        </p:nvSpPr>
        <p:spPr>
          <a:xfrm>
            <a:off x="6395525" y="2137489"/>
            <a:ext cx="4114799" cy="5546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2 channel Relay Module</a:t>
            </a:r>
          </a:p>
        </p:txBody>
      </p:sp>
      <p:sp>
        <p:nvSpPr>
          <p:cNvPr id="21" name="Content Placeholder 1">
            <a:extLst>
              <a:ext uri="{FF2B5EF4-FFF2-40B4-BE49-F238E27FC236}">
                <a16:creationId xmlns:a16="http://schemas.microsoft.com/office/drawing/2014/main" id="{720152F5-84DA-40B6-8E84-7E6AA90D0FDC}"/>
              </a:ext>
            </a:extLst>
          </p:cNvPr>
          <p:cNvSpPr txBox="1">
            <a:spLocks/>
          </p:cNvSpPr>
          <p:nvPr/>
        </p:nvSpPr>
        <p:spPr>
          <a:xfrm>
            <a:off x="6096000" y="4896328"/>
            <a:ext cx="4713847" cy="9170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Used for Switching part of control</a:t>
            </a:r>
          </a:p>
        </p:txBody>
      </p:sp>
      <p:pic>
        <p:nvPicPr>
          <p:cNvPr id="22" name="Picture 21">
            <a:extLst>
              <a:ext uri="{FF2B5EF4-FFF2-40B4-BE49-F238E27FC236}">
                <a16:creationId xmlns:a16="http://schemas.microsoft.com/office/drawing/2014/main" id="{1780252C-B9EC-4453-B234-D0EA4F8D2022}"/>
              </a:ext>
            </a:extLst>
          </p:cNvPr>
          <p:cNvPicPr/>
          <p:nvPr/>
        </p:nvPicPr>
        <p:blipFill>
          <a:blip r:embed="rId3"/>
          <a:srcRect/>
          <a:stretch/>
        </p:blipFill>
        <p:spPr bwMode="auto">
          <a:xfrm>
            <a:off x="7325478" y="2641680"/>
            <a:ext cx="2254892" cy="2265839"/>
          </a:xfrm>
          <a:prstGeom prst="rect">
            <a:avLst/>
          </a:prstGeom>
          <a:noFill/>
          <a:ln>
            <a:noFill/>
          </a:ln>
        </p:spPr>
      </p:pic>
    </p:spTree>
    <p:extLst>
      <p:ext uri="{BB962C8B-B14F-4D97-AF65-F5344CB8AC3E}">
        <p14:creationId xmlns:p14="http://schemas.microsoft.com/office/powerpoint/2010/main" val="9723962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E9A15A-8504-9AA7-D100-938DEBFC905E}"/>
              </a:ext>
            </a:extLst>
          </p:cNvPr>
          <p:cNvSpPr>
            <a:spLocks noGrp="1"/>
          </p:cNvSpPr>
          <p:nvPr>
            <p:ph idx="1"/>
          </p:nvPr>
        </p:nvSpPr>
        <p:spPr>
          <a:xfrm>
            <a:off x="838200" y="1413352"/>
            <a:ext cx="10515600" cy="554672"/>
          </a:xfrm>
        </p:spPr>
        <p:txBody>
          <a:bodyPr/>
          <a:lstStyle/>
          <a:p>
            <a:pPr marL="0" indent="0" algn="just">
              <a:buNone/>
            </a:pPr>
            <a:r>
              <a:rPr lang="en-US" dirty="0"/>
              <a:t>Component List: (Microcontroller and LCD display)</a:t>
            </a:r>
          </a:p>
        </p:txBody>
      </p:sp>
      <p:sp>
        <p:nvSpPr>
          <p:cNvPr id="3" name="Title 2">
            <a:extLst>
              <a:ext uri="{FF2B5EF4-FFF2-40B4-BE49-F238E27FC236}">
                <a16:creationId xmlns:a16="http://schemas.microsoft.com/office/drawing/2014/main" id="{95E50F83-721B-BB4A-D177-41C1F1551697}"/>
              </a:ext>
            </a:extLst>
          </p:cNvPr>
          <p:cNvSpPr>
            <a:spLocks noGrp="1"/>
          </p:cNvSpPr>
          <p:nvPr>
            <p:ph type="title"/>
          </p:nvPr>
        </p:nvSpPr>
        <p:spPr/>
        <p:txBody>
          <a:bodyPr/>
          <a:lstStyle/>
          <a:p>
            <a:r>
              <a:rPr lang="en-US" dirty="0"/>
              <a:t>3.1 Design: Methods</a:t>
            </a:r>
          </a:p>
        </p:txBody>
      </p:sp>
      <p:sp>
        <p:nvSpPr>
          <p:cNvPr id="4" name="Date Placeholder 3">
            <a:extLst>
              <a:ext uri="{FF2B5EF4-FFF2-40B4-BE49-F238E27FC236}">
                <a16:creationId xmlns:a16="http://schemas.microsoft.com/office/drawing/2014/main" id="{598E7779-61E2-5209-A8B2-33B515067AD5}"/>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AD728AC4-96E0-C005-1317-7C2EC612CF0B}"/>
              </a:ext>
            </a:extLst>
          </p:cNvPr>
          <p:cNvSpPr>
            <a:spLocks noGrp="1"/>
          </p:cNvSpPr>
          <p:nvPr>
            <p:ph type="ftr" sz="quarter" idx="11"/>
          </p:nvPr>
        </p:nvSpPr>
        <p:spPr/>
        <p:txBody>
          <a:bodyPr/>
          <a:lstStyle/>
          <a:p>
            <a:r>
              <a:rPr lang="en-US" dirty="0"/>
              <a:t>Presented By – </a:t>
            </a:r>
            <a:r>
              <a:rPr lang="en-US" dirty="0">
                <a:solidFill>
                  <a:srgbClr val="FFFF00"/>
                </a:solidFill>
              </a:rPr>
              <a:t>220021308</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ECF0019E-5264-6256-2C6C-7012531DE882}"/>
              </a:ext>
            </a:extLst>
          </p:cNvPr>
          <p:cNvSpPr>
            <a:spLocks noGrp="1"/>
          </p:cNvSpPr>
          <p:nvPr>
            <p:ph type="sldNum" sz="quarter" idx="12"/>
          </p:nvPr>
        </p:nvSpPr>
        <p:spPr/>
        <p:txBody>
          <a:bodyPr/>
          <a:lstStyle/>
          <a:p>
            <a:fld id="{1DCA6118-F558-4478-80BF-767359AFE687}" type="slidenum">
              <a:rPr lang="en-US" smtClean="0"/>
              <a:t>9</a:t>
            </a:fld>
            <a:endParaRPr lang="en-US"/>
          </a:p>
        </p:txBody>
      </p:sp>
      <p:sp>
        <p:nvSpPr>
          <p:cNvPr id="7" name="Content Placeholder 1">
            <a:extLst>
              <a:ext uri="{FF2B5EF4-FFF2-40B4-BE49-F238E27FC236}">
                <a16:creationId xmlns:a16="http://schemas.microsoft.com/office/drawing/2014/main" id="{BDA4C921-866C-47A4-A608-57AA2A18DEBD}"/>
              </a:ext>
            </a:extLst>
          </p:cNvPr>
          <p:cNvSpPr txBox="1">
            <a:spLocks/>
          </p:cNvSpPr>
          <p:nvPr/>
        </p:nvSpPr>
        <p:spPr>
          <a:xfrm>
            <a:off x="1508760" y="2043272"/>
            <a:ext cx="2948709" cy="5546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Arduino UNO</a:t>
            </a:r>
          </a:p>
        </p:txBody>
      </p:sp>
      <p:pic>
        <p:nvPicPr>
          <p:cNvPr id="8" name="Picture 7">
            <a:extLst>
              <a:ext uri="{FF2B5EF4-FFF2-40B4-BE49-F238E27FC236}">
                <a16:creationId xmlns:a16="http://schemas.microsoft.com/office/drawing/2014/main" id="{817EC723-D09F-48A0-B97B-B466DF91F0D9}"/>
              </a:ext>
            </a:extLst>
          </p:cNvPr>
          <p:cNvPicPr/>
          <p:nvPr/>
        </p:nvPicPr>
        <p:blipFill>
          <a:blip r:embed="rId2"/>
          <a:srcRect/>
          <a:stretch/>
        </p:blipFill>
        <p:spPr>
          <a:xfrm>
            <a:off x="1661399" y="2507139"/>
            <a:ext cx="2643429" cy="2392998"/>
          </a:xfrm>
          <a:prstGeom prst="rect">
            <a:avLst/>
          </a:prstGeom>
        </p:spPr>
      </p:pic>
      <p:sp>
        <p:nvSpPr>
          <p:cNvPr id="10" name="Content Placeholder 1">
            <a:extLst>
              <a:ext uri="{FF2B5EF4-FFF2-40B4-BE49-F238E27FC236}">
                <a16:creationId xmlns:a16="http://schemas.microsoft.com/office/drawing/2014/main" id="{8D6EDCA4-C47C-453B-BFD4-32A5C3DE4888}"/>
              </a:ext>
            </a:extLst>
          </p:cNvPr>
          <p:cNvSpPr txBox="1">
            <a:spLocks/>
          </p:cNvSpPr>
          <p:nvPr/>
        </p:nvSpPr>
        <p:spPr>
          <a:xfrm>
            <a:off x="1508758" y="4889977"/>
            <a:ext cx="2948709" cy="9170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Used for the control mechanism </a:t>
            </a:r>
          </a:p>
        </p:txBody>
      </p:sp>
      <p:sp>
        <p:nvSpPr>
          <p:cNvPr id="11" name="Content Placeholder 1">
            <a:extLst>
              <a:ext uri="{FF2B5EF4-FFF2-40B4-BE49-F238E27FC236}">
                <a16:creationId xmlns:a16="http://schemas.microsoft.com/office/drawing/2014/main" id="{14C92120-76DB-4482-8305-1769F2E27EAE}"/>
              </a:ext>
            </a:extLst>
          </p:cNvPr>
          <p:cNvSpPr txBox="1">
            <a:spLocks/>
          </p:cNvSpPr>
          <p:nvPr/>
        </p:nvSpPr>
        <p:spPr>
          <a:xfrm>
            <a:off x="4621647" y="2069307"/>
            <a:ext cx="2948709" cy="55467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LCD Display 16×2</a:t>
            </a:r>
          </a:p>
        </p:txBody>
      </p:sp>
      <p:pic>
        <p:nvPicPr>
          <p:cNvPr id="12" name="Picture 11">
            <a:extLst>
              <a:ext uri="{FF2B5EF4-FFF2-40B4-BE49-F238E27FC236}">
                <a16:creationId xmlns:a16="http://schemas.microsoft.com/office/drawing/2014/main" id="{DC7F84E3-66C0-4720-AF3C-6BAE21CC2F32}"/>
              </a:ext>
            </a:extLst>
          </p:cNvPr>
          <p:cNvPicPr/>
          <p:nvPr/>
        </p:nvPicPr>
        <p:blipFill>
          <a:blip r:embed="rId3"/>
          <a:srcRect/>
          <a:stretch/>
        </p:blipFill>
        <p:spPr>
          <a:xfrm>
            <a:off x="5034116" y="2667788"/>
            <a:ext cx="2123769" cy="2123769"/>
          </a:xfrm>
          <a:prstGeom prst="rect">
            <a:avLst/>
          </a:prstGeom>
        </p:spPr>
      </p:pic>
      <p:sp>
        <p:nvSpPr>
          <p:cNvPr id="13" name="Content Placeholder 1">
            <a:extLst>
              <a:ext uri="{FF2B5EF4-FFF2-40B4-BE49-F238E27FC236}">
                <a16:creationId xmlns:a16="http://schemas.microsoft.com/office/drawing/2014/main" id="{D9C6A3B5-D039-4888-AE6C-1047E6A4EBA8}"/>
              </a:ext>
            </a:extLst>
          </p:cNvPr>
          <p:cNvSpPr txBox="1">
            <a:spLocks/>
          </p:cNvSpPr>
          <p:nvPr/>
        </p:nvSpPr>
        <p:spPr>
          <a:xfrm>
            <a:off x="4621645" y="4916012"/>
            <a:ext cx="2948709" cy="13425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Used for the temperature and status display </a:t>
            </a:r>
          </a:p>
        </p:txBody>
      </p:sp>
      <p:sp>
        <p:nvSpPr>
          <p:cNvPr id="14" name="Content Placeholder 1">
            <a:extLst>
              <a:ext uri="{FF2B5EF4-FFF2-40B4-BE49-F238E27FC236}">
                <a16:creationId xmlns:a16="http://schemas.microsoft.com/office/drawing/2014/main" id="{FB69B791-01D5-4AEB-AE8D-C58868FF39A7}"/>
              </a:ext>
            </a:extLst>
          </p:cNvPr>
          <p:cNvSpPr txBox="1">
            <a:spLocks/>
          </p:cNvSpPr>
          <p:nvPr/>
        </p:nvSpPr>
        <p:spPr>
          <a:xfrm>
            <a:off x="7734533" y="2043272"/>
            <a:ext cx="4203467" cy="5546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I2C LCD Adapter</a:t>
            </a:r>
          </a:p>
        </p:txBody>
      </p:sp>
      <p:pic>
        <p:nvPicPr>
          <p:cNvPr id="15" name="Picture 14">
            <a:extLst>
              <a:ext uri="{FF2B5EF4-FFF2-40B4-BE49-F238E27FC236}">
                <a16:creationId xmlns:a16="http://schemas.microsoft.com/office/drawing/2014/main" id="{2DABD33B-3C95-47CF-B9E9-FB75BCC6D8C7}"/>
              </a:ext>
            </a:extLst>
          </p:cNvPr>
          <p:cNvPicPr/>
          <p:nvPr/>
        </p:nvPicPr>
        <p:blipFill>
          <a:blip r:embed="rId4"/>
          <a:srcRect/>
          <a:stretch/>
        </p:blipFill>
        <p:spPr>
          <a:xfrm>
            <a:off x="8147002" y="2641753"/>
            <a:ext cx="2123769" cy="2123769"/>
          </a:xfrm>
          <a:prstGeom prst="rect">
            <a:avLst/>
          </a:prstGeom>
        </p:spPr>
      </p:pic>
      <p:sp>
        <p:nvSpPr>
          <p:cNvPr id="16" name="Content Placeholder 1">
            <a:extLst>
              <a:ext uri="{FF2B5EF4-FFF2-40B4-BE49-F238E27FC236}">
                <a16:creationId xmlns:a16="http://schemas.microsoft.com/office/drawing/2014/main" id="{8842B3B2-ED7D-4C02-9071-67F1BFD7B4B3}"/>
              </a:ext>
            </a:extLst>
          </p:cNvPr>
          <p:cNvSpPr txBox="1">
            <a:spLocks/>
          </p:cNvSpPr>
          <p:nvPr/>
        </p:nvSpPr>
        <p:spPr>
          <a:xfrm>
            <a:off x="7734531" y="4889977"/>
            <a:ext cx="3146829" cy="9170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Adapter for the easy use of the LCD</a:t>
            </a:r>
          </a:p>
        </p:txBody>
      </p:sp>
    </p:spTree>
    <p:extLst>
      <p:ext uri="{BB962C8B-B14F-4D97-AF65-F5344CB8AC3E}">
        <p14:creationId xmlns:p14="http://schemas.microsoft.com/office/powerpoint/2010/main" val="11573276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E9A15A-8504-9AA7-D100-938DEBFC905E}"/>
              </a:ext>
            </a:extLst>
          </p:cNvPr>
          <p:cNvSpPr>
            <a:spLocks noGrp="1"/>
          </p:cNvSpPr>
          <p:nvPr>
            <p:ph idx="1"/>
          </p:nvPr>
        </p:nvSpPr>
        <p:spPr>
          <a:xfrm>
            <a:off x="838200" y="1413352"/>
            <a:ext cx="10515600" cy="554672"/>
          </a:xfrm>
        </p:spPr>
        <p:txBody>
          <a:bodyPr/>
          <a:lstStyle/>
          <a:p>
            <a:pPr marL="0" indent="0" algn="just">
              <a:buNone/>
            </a:pPr>
            <a:r>
              <a:rPr lang="en-US" dirty="0"/>
              <a:t>Algorithm:</a:t>
            </a:r>
          </a:p>
        </p:txBody>
      </p:sp>
      <p:sp>
        <p:nvSpPr>
          <p:cNvPr id="3" name="Title 2">
            <a:extLst>
              <a:ext uri="{FF2B5EF4-FFF2-40B4-BE49-F238E27FC236}">
                <a16:creationId xmlns:a16="http://schemas.microsoft.com/office/drawing/2014/main" id="{95E50F83-721B-BB4A-D177-41C1F1551697}"/>
              </a:ext>
            </a:extLst>
          </p:cNvPr>
          <p:cNvSpPr>
            <a:spLocks noGrp="1"/>
          </p:cNvSpPr>
          <p:nvPr>
            <p:ph type="title"/>
          </p:nvPr>
        </p:nvSpPr>
        <p:spPr>
          <a:xfrm>
            <a:off x="838200" y="136525"/>
            <a:ext cx="10515600" cy="1325563"/>
          </a:xfrm>
        </p:spPr>
        <p:txBody>
          <a:bodyPr/>
          <a:lstStyle/>
          <a:p>
            <a:r>
              <a:rPr lang="en-US" dirty="0"/>
              <a:t>3.1 Design: Methods</a:t>
            </a:r>
          </a:p>
        </p:txBody>
      </p:sp>
      <p:sp>
        <p:nvSpPr>
          <p:cNvPr id="4" name="Date Placeholder 3">
            <a:extLst>
              <a:ext uri="{FF2B5EF4-FFF2-40B4-BE49-F238E27FC236}">
                <a16:creationId xmlns:a16="http://schemas.microsoft.com/office/drawing/2014/main" id="{598E7779-61E2-5209-A8B2-33B515067AD5}"/>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AD728AC4-96E0-C005-1317-7C2EC612CF0B}"/>
              </a:ext>
            </a:extLst>
          </p:cNvPr>
          <p:cNvSpPr>
            <a:spLocks noGrp="1"/>
          </p:cNvSpPr>
          <p:nvPr>
            <p:ph type="ftr" sz="quarter" idx="11"/>
          </p:nvPr>
        </p:nvSpPr>
        <p:spPr/>
        <p:txBody>
          <a:bodyPr/>
          <a:lstStyle/>
          <a:p>
            <a:r>
              <a:rPr lang="en-US" dirty="0"/>
              <a:t>Presented By – </a:t>
            </a:r>
            <a:r>
              <a:rPr lang="en-US" dirty="0">
                <a:solidFill>
                  <a:srgbClr val="FFFF00"/>
                </a:solidFill>
              </a:rPr>
              <a:t>220021308</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ECF0019E-5264-6256-2C6C-7012531DE882}"/>
              </a:ext>
            </a:extLst>
          </p:cNvPr>
          <p:cNvSpPr>
            <a:spLocks noGrp="1"/>
          </p:cNvSpPr>
          <p:nvPr>
            <p:ph type="sldNum" sz="quarter" idx="12"/>
          </p:nvPr>
        </p:nvSpPr>
        <p:spPr/>
        <p:txBody>
          <a:bodyPr/>
          <a:lstStyle/>
          <a:p>
            <a:fld id="{1DCA6118-F558-4478-80BF-767359AFE687}" type="slidenum">
              <a:rPr lang="en-US" smtClean="0"/>
              <a:t>10</a:t>
            </a:fld>
            <a:endParaRPr lang="en-US"/>
          </a:p>
        </p:txBody>
      </p:sp>
      <p:pic>
        <p:nvPicPr>
          <p:cNvPr id="11" name="Picture 10">
            <a:extLst>
              <a:ext uri="{FF2B5EF4-FFF2-40B4-BE49-F238E27FC236}">
                <a16:creationId xmlns:a16="http://schemas.microsoft.com/office/drawing/2014/main" id="{9B5EAA4A-668D-412F-8897-FB042D8D6351}"/>
              </a:ext>
            </a:extLst>
          </p:cNvPr>
          <p:cNvPicPr>
            <a:picLocks noChangeAspect="1"/>
          </p:cNvPicPr>
          <p:nvPr/>
        </p:nvPicPr>
        <p:blipFill>
          <a:blip r:embed="rId2"/>
          <a:stretch>
            <a:fillRect/>
          </a:stretch>
        </p:blipFill>
        <p:spPr>
          <a:xfrm>
            <a:off x="4345708" y="1462088"/>
            <a:ext cx="7236692" cy="4792980"/>
          </a:xfrm>
          <a:prstGeom prst="rect">
            <a:avLst/>
          </a:prstGeom>
        </p:spPr>
      </p:pic>
    </p:spTree>
    <p:extLst>
      <p:ext uri="{BB962C8B-B14F-4D97-AF65-F5344CB8AC3E}">
        <p14:creationId xmlns:p14="http://schemas.microsoft.com/office/powerpoint/2010/main" val="40991198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1A446F-6EF2-4BF4-29D3-DD43430A9403}"/>
              </a:ext>
            </a:extLst>
          </p:cNvPr>
          <p:cNvSpPr>
            <a:spLocks noGrp="1"/>
          </p:cNvSpPr>
          <p:nvPr>
            <p:ph type="title"/>
          </p:nvPr>
        </p:nvSpPr>
        <p:spPr/>
        <p:txBody>
          <a:bodyPr/>
          <a:lstStyle/>
          <a:p>
            <a:r>
              <a:rPr lang="en-US" dirty="0"/>
              <a:t>3.2 Design: Circuit Diagram</a:t>
            </a:r>
          </a:p>
        </p:txBody>
      </p:sp>
      <p:sp>
        <p:nvSpPr>
          <p:cNvPr id="4" name="Date Placeholder 3">
            <a:extLst>
              <a:ext uri="{FF2B5EF4-FFF2-40B4-BE49-F238E27FC236}">
                <a16:creationId xmlns:a16="http://schemas.microsoft.com/office/drawing/2014/main" id="{3B408251-469E-A60C-EFEA-DA17F0A88F9F}"/>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9F558F41-15B9-100C-FB49-9D6A2A730968}"/>
              </a:ext>
            </a:extLst>
          </p:cNvPr>
          <p:cNvSpPr>
            <a:spLocks noGrp="1"/>
          </p:cNvSpPr>
          <p:nvPr>
            <p:ph type="ftr" sz="quarter" idx="11"/>
          </p:nvPr>
        </p:nvSpPr>
        <p:spPr/>
        <p:txBody>
          <a:bodyPr/>
          <a:lstStyle/>
          <a:p>
            <a:r>
              <a:rPr lang="en-US" dirty="0"/>
              <a:t>Presented By – </a:t>
            </a:r>
            <a:r>
              <a:rPr lang="en-US" dirty="0" smtClean="0">
                <a:solidFill>
                  <a:srgbClr val="FFFF00"/>
                </a:solidFill>
              </a:rPr>
              <a:t>220021115</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5B3D6877-E8EA-440E-664F-2433A9901376}"/>
              </a:ext>
            </a:extLst>
          </p:cNvPr>
          <p:cNvSpPr>
            <a:spLocks noGrp="1"/>
          </p:cNvSpPr>
          <p:nvPr>
            <p:ph type="sldNum" sz="quarter" idx="12"/>
          </p:nvPr>
        </p:nvSpPr>
        <p:spPr/>
        <p:txBody>
          <a:bodyPr/>
          <a:lstStyle/>
          <a:p>
            <a:fld id="{1DCA6118-F558-4478-80BF-767359AFE687}" type="slidenum">
              <a:rPr lang="en-US" smtClean="0"/>
              <a:t>11</a:t>
            </a:fld>
            <a:endParaRPr lang="en-US"/>
          </a:p>
        </p:txBody>
      </p:sp>
      <p:pic>
        <p:nvPicPr>
          <p:cNvPr id="10" name="Content Placeholder 9">
            <a:extLst>
              <a:ext uri="{FF2B5EF4-FFF2-40B4-BE49-F238E27FC236}">
                <a16:creationId xmlns:a16="http://schemas.microsoft.com/office/drawing/2014/main" id="{F56CB3B7-E48A-4F02-91A0-C37D434F02D2}"/>
              </a:ext>
            </a:extLst>
          </p:cNvPr>
          <p:cNvPicPr>
            <a:picLocks noGrp="1" noChangeAspect="1"/>
          </p:cNvPicPr>
          <p:nvPr>
            <p:ph idx="1"/>
          </p:nvPr>
        </p:nvPicPr>
        <p:blipFill>
          <a:blip r:embed="rId2"/>
          <a:stretch>
            <a:fillRect/>
          </a:stretch>
        </p:blipFill>
        <p:spPr>
          <a:xfrm>
            <a:off x="2499164" y="1500505"/>
            <a:ext cx="7437316" cy="4818294"/>
          </a:xfrm>
        </p:spPr>
      </p:pic>
    </p:spTree>
    <p:extLst>
      <p:ext uri="{BB962C8B-B14F-4D97-AF65-F5344CB8AC3E}">
        <p14:creationId xmlns:p14="http://schemas.microsoft.com/office/powerpoint/2010/main" val="15846178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p:cNvPicPr>
            <a:picLocks noGrp="1" noChangeAspect="1"/>
          </p:cNvPicPr>
          <p:nvPr>
            <p:ph idx="1"/>
          </p:nvPr>
        </p:nvPicPr>
        <p:blipFill>
          <a:blip r:embed="rId2"/>
          <a:stretch>
            <a:fillRect/>
          </a:stretch>
        </p:blipFill>
        <p:spPr>
          <a:xfrm>
            <a:off x="599114" y="1529534"/>
            <a:ext cx="5263532" cy="4351338"/>
          </a:xfrm>
          <a:prstGeom prst="rect">
            <a:avLst/>
          </a:prstGeom>
        </p:spPr>
      </p:pic>
      <p:sp>
        <p:nvSpPr>
          <p:cNvPr id="3" name="Title 2">
            <a:extLst>
              <a:ext uri="{FF2B5EF4-FFF2-40B4-BE49-F238E27FC236}">
                <a16:creationId xmlns:a16="http://schemas.microsoft.com/office/drawing/2014/main" id="{E5FE0741-9FF1-42CC-B7E4-1EE73CB976A9}"/>
              </a:ext>
            </a:extLst>
          </p:cNvPr>
          <p:cNvSpPr>
            <a:spLocks noGrp="1"/>
          </p:cNvSpPr>
          <p:nvPr>
            <p:ph type="title"/>
          </p:nvPr>
        </p:nvSpPr>
        <p:spPr/>
        <p:txBody>
          <a:bodyPr/>
          <a:lstStyle/>
          <a:p>
            <a:r>
              <a:rPr lang="en-US" dirty="0"/>
              <a:t>3.4 Hardware Design of the Prototype</a:t>
            </a:r>
          </a:p>
        </p:txBody>
      </p:sp>
      <p:sp>
        <p:nvSpPr>
          <p:cNvPr id="4" name="Date Placeholder 3">
            <a:extLst>
              <a:ext uri="{FF2B5EF4-FFF2-40B4-BE49-F238E27FC236}">
                <a16:creationId xmlns:a16="http://schemas.microsoft.com/office/drawing/2014/main" id="{13908867-0245-DE2C-6685-2E885D3221D2}"/>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7E4F17B6-EBF5-61F7-311F-AAEC3A9D6342}"/>
              </a:ext>
            </a:extLst>
          </p:cNvPr>
          <p:cNvSpPr>
            <a:spLocks noGrp="1"/>
          </p:cNvSpPr>
          <p:nvPr>
            <p:ph type="ftr" sz="quarter" idx="11"/>
          </p:nvPr>
        </p:nvSpPr>
        <p:spPr/>
        <p:txBody>
          <a:bodyPr/>
          <a:lstStyle/>
          <a:p>
            <a:r>
              <a:rPr lang="en-US" dirty="0"/>
              <a:t>Presented By – </a:t>
            </a:r>
            <a:r>
              <a:rPr lang="en-US" dirty="0" smtClean="0">
                <a:solidFill>
                  <a:srgbClr val="FFFF00"/>
                </a:solidFill>
              </a:rPr>
              <a:t>220021115</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9727D37E-F97B-B285-1C7C-97291121F9F7}"/>
              </a:ext>
            </a:extLst>
          </p:cNvPr>
          <p:cNvSpPr>
            <a:spLocks noGrp="1"/>
          </p:cNvSpPr>
          <p:nvPr>
            <p:ph type="sldNum" sz="quarter" idx="12"/>
          </p:nvPr>
        </p:nvSpPr>
        <p:spPr/>
        <p:txBody>
          <a:bodyPr/>
          <a:lstStyle/>
          <a:p>
            <a:fld id="{1DCA6118-F558-4478-80BF-767359AFE687}" type="slidenum">
              <a:rPr lang="en-US" smtClean="0"/>
              <a:t>12</a:t>
            </a:fld>
            <a:endParaRPr lang="en-US"/>
          </a:p>
        </p:txBody>
      </p:sp>
      <p:pic>
        <p:nvPicPr>
          <p:cNvPr id="10" name="Picture 9"/>
          <p:cNvPicPr>
            <a:picLocks noChangeAspect="1"/>
          </p:cNvPicPr>
          <p:nvPr/>
        </p:nvPicPr>
        <p:blipFill>
          <a:blip r:embed="rId3"/>
          <a:stretch>
            <a:fillRect/>
          </a:stretch>
        </p:blipFill>
        <p:spPr>
          <a:xfrm>
            <a:off x="6979495" y="1608397"/>
            <a:ext cx="4115226" cy="4193611"/>
          </a:xfrm>
          <a:prstGeom prst="rect">
            <a:avLst/>
          </a:prstGeom>
        </p:spPr>
      </p:pic>
    </p:spTree>
    <p:extLst>
      <p:ext uri="{BB962C8B-B14F-4D97-AF65-F5344CB8AC3E}">
        <p14:creationId xmlns:p14="http://schemas.microsoft.com/office/powerpoint/2010/main" val="33751380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4CE82B8-237E-F7AD-F00F-CAE1C04E1C7F}"/>
              </a:ext>
            </a:extLst>
          </p:cNvPr>
          <p:cNvSpPr>
            <a:spLocks noGrp="1"/>
          </p:cNvSpPr>
          <p:nvPr>
            <p:ph type="title"/>
          </p:nvPr>
        </p:nvSpPr>
        <p:spPr/>
        <p:txBody>
          <a:bodyPr>
            <a:normAutofit/>
          </a:bodyPr>
          <a:lstStyle/>
          <a:p>
            <a:r>
              <a:rPr lang="en-US" dirty="0"/>
              <a:t>4. Implementation : Demonstration</a:t>
            </a:r>
            <a:br>
              <a:rPr lang="en-US" dirty="0"/>
            </a:br>
            <a:endParaRPr lang="en-US" dirty="0"/>
          </a:p>
        </p:txBody>
      </p:sp>
      <p:sp>
        <p:nvSpPr>
          <p:cNvPr id="4" name="Date Placeholder 3">
            <a:extLst>
              <a:ext uri="{FF2B5EF4-FFF2-40B4-BE49-F238E27FC236}">
                <a16:creationId xmlns:a16="http://schemas.microsoft.com/office/drawing/2014/main" id="{DB4E7AE3-DF33-3D83-A769-20C712F2EB9B}"/>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D6755D71-3572-BFCF-A269-EBE19FF4878F}"/>
              </a:ext>
            </a:extLst>
          </p:cNvPr>
          <p:cNvSpPr>
            <a:spLocks noGrp="1"/>
          </p:cNvSpPr>
          <p:nvPr>
            <p:ph type="ftr" sz="quarter" idx="11"/>
          </p:nvPr>
        </p:nvSpPr>
        <p:spPr/>
        <p:txBody>
          <a:bodyPr/>
          <a:lstStyle/>
          <a:p>
            <a:r>
              <a:rPr lang="en-US" dirty="0"/>
              <a:t>Presented By – </a:t>
            </a:r>
            <a:r>
              <a:rPr lang="en-US" dirty="0" smtClean="0">
                <a:solidFill>
                  <a:srgbClr val="FFFF00"/>
                </a:solidFill>
              </a:rPr>
              <a:t>220021115</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1EAA9534-9D89-15EE-E01A-8C972E121FD8}"/>
              </a:ext>
            </a:extLst>
          </p:cNvPr>
          <p:cNvSpPr>
            <a:spLocks noGrp="1"/>
          </p:cNvSpPr>
          <p:nvPr>
            <p:ph type="sldNum" sz="quarter" idx="12"/>
          </p:nvPr>
        </p:nvSpPr>
        <p:spPr/>
        <p:txBody>
          <a:bodyPr/>
          <a:lstStyle/>
          <a:p>
            <a:fld id="{1DCA6118-F558-4478-80BF-767359AFE687}" type="slidenum">
              <a:rPr lang="en-US" smtClean="0"/>
              <a:t>13</a:t>
            </a:fld>
            <a:endParaRPr lang="en-US"/>
          </a:p>
        </p:txBody>
      </p:sp>
      <p:pic>
        <p:nvPicPr>
          <p:cNvPr id="8" name="Picture 7">
            <a:extLst>
              <a:ext uri="{FF2B5EF4-FFF2-40B4-BE49-F238E27FC236}">
                <a16:creationId xmlns:a16="http://schemas.microsoft.com/office/drawing/2014/main" id="{42586F10-9770-4D04-A069-4A2D5973F716}"/>
              </a:ext>
            </a:extLst>
          </p:cNvPr>
          <p:cNvPicPr>
            <a:picLocks noChangeAspect="1"/>
          </p:cNvPicPr>
          <p:nvPr/>
        </p:nvPicPr>
        <p:blipFill>
          <a:blip r:embed="rId2"/>
          <a:stretch>
            <a:fillRect/>
          </a:stretch>
        </p:blipFill>
        <p:spPr>
          <a:xfrm>
            <a:off x="697961" y="1489164"/>
            <a:ext cx="5227864" cy="3936275"/>
          </a:xfrm>
          <a:prstGeom prst="rect">
            <a:avLst/>
          </a:prstGeom>
        </p:spPr>
      </p:pic>
      <p:pic>
        <p:nvPicPr>
          <p:cNvPr id="9" name="Picture 8">
            <a:extLst>
              <a:ext uri="{FF2B5EF4-FFF2-40B4-BE49-F238E27FC236}">
                <a16:creationId xmlns:a16="http://schemas.microsoft.com/office/drawing/2014/main" id="{FA2D6DF2-7068-4F6E-A2E4-1FC406784527}"/>
              </a:ext>
            </a:extLst>
          </p:cNvPr>
          <p:cNvPicPr>
            <a:picLocks noChangeAspect="1"/>
          </p:cNvPicPr>
          <p:nvPr/>
        </p:nvPicPr>
        <p:blipFill>
          <a:blip r:embed="rId3"/>
          <a:stretch>
            <a:fillRect/>
          </a:stretch>
        </p:blipFill>
        <p:spPr>
          <a:xfrm>
            <a:off x="6157680" y="1489164"/>
            <a:ext cx="5248367" cy="3936275"/>
          </a:xfrm>
          <a:prstGeom prst="rect">
            <a:avLst/>
          </a:prstGeom>
        </p:spPr>
      </p:pic>
    </p:spTree>
    <p:extLst>
      <p:ext uri="{BB962C8B-B14F-4D97-AF65-F5344CB8AC3E}">
        <p14:creationId xmlns:p14="http://schemas.microsoft.com/office/powerpoint/2010/main" val="26633046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rotWithShape="1">
          <a:blip r:embed="rId2">
            <a:extLst>
              <a:ext uri="{28A0092B-C50C-407E-A947-70E740481C1C}">
                <a14:useLocalDpi xmlns:a14="http://schemas.microsoft.com/office/drawing/2010/main" val="0"/>
              </a:ext>
            </a:extLst>
          </a:blip>
          <a:srcRect l="23096" t="23578" r="14526" b="16974"/>
          <a:stretch/>
        </p:blipFill>
        <p:spPr>
          <a:xfrm>
            <a:off x="8058468" y="2124891"/>
            <a:ext cx="3923190" cy="2804160"/>
          </a:xfrm>
        </p:spPr>
      </p:pic>
      <p:sp>
        <p:nvSpPr>
          <p:cNvPr id="3" name="Title 2">
            <a:extLst>
              <a:ext uri="{FF2B5EF4-FFF2-40B4-BE49-F238E27FC236}">
                <a16:creationId xmlns:a16="http://schemas.microsoft.com/office/drawing/2014/main" id="{0A015909-4125-B990-70E2-437E37BC405F}"/>
              </a:ext>
            </a:extLst>
          </p:cNvPr>
          <p:cNvSpPr>
            <a:spLocks noGrp="1"/>
          </p:cNvSpPr>
          <p:nvPr>
            <p:ph type="title"/>
          </p:nvPr>
        </p:nvSpPr>
        <p:spPr/>
        <p:txBody>
          <a:bodyPr>
            <a:normAutofit/>
          </a:bodyPr>
          <a:lstStyle/>
          <a:p>
            <a:r>
              <a:rPr lang="en-US" dirty="0"/>
              <a:t>4.1 Implementation: Photo </a:t>
            </a:r>
            <a:r>
              <a:rPr lang="en-US" dirty="0" smtClean="0"/>
              <a:t>Gallery</a:t>
            </a:r>
            <a:endParaRPr lang="en-US" dirty="0"/>
          </a:p>
        </p:txBody>
      </p:sp>
      <p:sp>
        <p:nvSpPr>
          <p:cNvPr id="4" name="Date Placeholder 3">
            <a:extLst>
              <a:ext uri="{FF2B5EF4-FFF2-40B4-BE49-F238E27FC236}">
                <a16:creationId xmlns:a16="http://schemas.microsoft.com/office/drawing/2014/main" id="{AF3AEB6F-1CF1-92D7-7FA8-38D3A20D8F2A}"/>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7FF08808-FBEC-329F-BB67-21C16D63D30F}"/>
              </a:ext>
            </a:extLst>
          </p:cNvPr>
          <p:cNvSpPr>
            <a:spLocks noGrp="1"/>
          </p:cNvSpPr>
          <p:nvPr>
            <p:ph type="ftr" sz="quarter" idx="11"/>
          </p:nvPr>
        </p:nvSpPr>
        <p:spPr/>
        <p:txBody>
          <a:bodyPr/>
          <a:lstStyle/>
          <a:p>
            <a:r>
              <a:rPr lang="en-US" dirty="0"/>
              <a:t>Presented By – </a:t>
            </a:r>
            <a:r>
              <a:rPr lang="en-US" dirty="0" smtClean="0">
                <a:solidFill>
                  <a:srgbClr val="FFFF00"/>
                </a:solidFill>
              </a:rPr>
              <a:t>220021115</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BEBDA2D2-8BCB-BCC9-3875-AE57410E3F3B}"/>
              </a:ext>
            </a:extLst>
          </p:cNvPr>
          <p:cNvSpPr>
            <a:spLocks noGrp="1"/>
          </p:cNvSpPr>
          <p:nvPr>
            <p:ph type="sldNum" sz="quarter" idx="12"/>
          </p:nvPr>
        </p:nvSpPr>
        <p:spPr/>
        <p:txBody>
          <a:bodyPr/>
          <a:lstStyle/>
          <a:p>
            <a:fld id="{1DCA6118-F558-4478-80BF-767359AFE687}" type="slidenum">
              <a:rPr lang="en-US" smtClean="0"/>
              <a:t>14</a:t>
            </a:fld>
            <a:endParaRPr lang="en-US"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423" y="1994404"/>
            <a:ext cx="3811328" cy="3030442"/>
          </a:xfrm>
          <a:prstGeom prst="rect">
            <a:avLst/>
          </a:prstGeom>
        </p:spPr>
      </p:pic>
      <p:pic>
        <p:nvPicPr>
          <p:cNvPr id="10" name="Picture 9"/>
          <p:cNvPicPr>
            <a:picLocks noChangeAspect="1"/>
          </p:cNvPicPr>
          <p:nvPr/>
        </p:nvPicPr>
        <p:blipFill rotWithShape="1">
          <a:blip r:embed="rId4">
            <a:extLst>
              <a:ext uri="{28A0092B-C50C-407E-A947-70E740481C1C}">
                <a14:useLocalDpi xmlns:a14="http://schemas.microsoft.com/office/drawing/2010/main" val="0"/>
              </a:ext>
            </a:extLst>
          </a:blip>
          <a:srcRect l="10442" t="21535"/>
          <a:stretch/>
        </p:blipFill>
        <p:spPr>
          <a:xfrm>
            <a:off x="4484058" y="4022348"/>
            <a:ext cx="3432034" cy="2255209"/>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64259" y="1541341"/>
            <a:ext cx="3243195" cy="2432396"/>
          </a:xfrm>
          <a:prstGeom prst="rect">
            <a:avLst/>
          </a:prstGeom>
        </p:spPr>
      </p:pic>
    </p:spTree>
    <p:extLst>
      <p:ext uri="{BB962C8B-B14F-4D97-AF65-F5344CB8AC3E}">
        <p14:creationId xmlns:p14="http://schemas.microsoft.com/office/powerpoint/2010/main" val="17901213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3A070F-AEEE-C14F-FBD5-4FA73187F208}"/>
              </a:ext>
            </a:extLst>
          </p:cNvPr>
          <p:cNvSpPr>
            <a:spLocks noGrp="1"/>
          </p:cNvSpPr>
          <p:nvPr>
            <p:ph idx="1"/>
          </p:nvPr>
        </p:nvSpPr>
        <p:spPr/>
        <p:txBody>
          <a:bodyPr/>
          <a:lstStyle/>
          <a:p>
            <a:pPr marL="0" indent="0" algn="ctr">
              <a:buNone/>
            </a:pPr>
            <a:endParaRPr lang="en-US" dirty="0"/>
          </a:p>
          <a:p>
            <a:pPr marL="0" indent="0" algn="ctr">
              <a:buNone/>
            </a:pPr>
            <a:r>
              <a:rPr lang="en-US" dirty="0"/>
              <a:t>GitHub link:</a:t>
            </a:r>
          </a:p>
          <a:p>
            <a:pPr marL="0" indent="0" algn="ctr">
              <a:buNone/>
            </a:pPr>
            <a:r>
              <a:rPr lang="en-US" dirty="0" smtClean="0">
                <a:hlinkClick r:id="rId2"/>
              </a:rPr>
              <a:t>pcr-thermal-cycler</a:t>
            </a:r>
            <a:endParaRPr lang="en-US" dirty="0" smtClean="0"/>
          </a:p>
          <a:p>
            <a:pPr marL="0" indent="0" algn="ctr">
              <a:buNone/>
            </a:pPr>
            <a:r>
              <a:rPr lang="en-US" dirty="0" smtClean="0"/>
              <a:t>YouTube </a:t>
            </a:r>
            <a:r>
              <a:rPr lang="en-US" dirty="0"/>
              <a:t>Link:</a:t>
            </a:r>
            <a:endParaRPr lang="en-BD" dirty="0"/>
          </a:p>
          <a:p>
            <a:pPr marL="0" indent="0" algn="ctr">
              <a:buNone/>
            </a:pPr>
            <a:r>
              <a:rPr lang="en-US" dirty="0" smtClean="0">
                <a:hlinkClick r:id="rId3"/>
              </a:rPr>
              <a:t>thermal cycle</a:t>
            </a:r>
            <a:endParaRPr lang="en-US" dirty="0"/>
          </a:p>
        </p:txBody>
      </p:sp>
      <p:sp>
        <p:nvSpPr>
          <p:cNvPr id="3" name="Title 2">
            <a:extLst>
              <a:ext uri="{FF2B5EF4-FFF2-40B4-BE49-F238E27FC236}">
                <a16:creationId xmlns:a16="http://schemas.microsoft.com/office/drawing/2014/main" id="{24879C0E-3EFC-F636-F5AC-C31C59C8067A}"/>
              </a:ext>
            </a:extLst>
          </p:cNvPr>
          <p:cNvSpPr>
            <a:spLocks noGrp="1"/>
          </p:cNvSpPr>
          <p:nvPr>
            <p:ph type="title"/>
          </p:nvPr>
        </p:nvSpPr>
        <p:spPr/>
        <p:txBody>
          <a:bodyPr>
            <a:normAutofit/>
          </a:bodyPr>
          <a:lstStyle/>
          <a:p>
            <a:r>
              <a:rPr lang="en-US" dirty="0"/>
              <a:t>4.2 Implementation: External Links</a:t>
            </a:r>
          </a:p>
        </p:txBody>
      </p:sp>
      <p:sp>
        <p:nvSpPr>
          <p:cNvPr id="4" name="Date Placeholder 3">
            <a:extLst>
              <a:ext uri="{FF2B5EF4-FFF2-40B4-BE49-F238E27FC236}">
                <a16:creationId xmlns:a16="http://schemas.microsoft.com/office/drawing/2014/main" id="{75ED4473-998F-6CC1-E4B9-971692B73777}"/>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7EB3D9D2-8CBF-5A0E-A555-6B29ACE67777}"/>
              </a:ext>
            </a:extLst>
          </p:cNvPr>
          <p:cNvSpPr>
            <a:spLocks noGrp="1"/>
          </p:cNvSpPr>
          <p:nvPr>
            <p:ph type="ftr" sz="quarter" idx="11"/>
          </p:nvPr>
        </p:nvSpPr>
        <p:spPr/>
        <p:txBody>
          <a:bodyPr/>
          <a:lstStyle/>
          <a:p>
            <a:r>
              <a:rPr lang="en-US" dirty="0"/>
              <a:t>Presented By – </a:t>
            </a:r>
            <a:r>
              <a:rPr lang="en-US" dirty="0" smtClean="0">
                <a:solidFill>
                  <a:srgbClr val="FFFF00"/>
                </a:solidFill>
              </a:rPr>
              <a:t>220021115</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E75B2386-0569-4841-FBD3-53A5E4FEC45A}"/>
              </a:ext>
            </a:extLst>
          </p:cNvPr>
          <p:cNvSpPr>
            <a:spLocks noGrp="1"/>
          </p:cNvSpPr>
          <p:nvPr>
            <p:ph type="sldNum" sz="quarter" idx="12"/>
          </p:nvPr>
        </p:nvSpPr>
        <p:spPr/>
        <p:txBody>
          <a:bodyPr/>
          <a:lstStyle/>
          <a:p>
            <a:fld id="{1DCA6118-F558-4478-80BF-767359AFE687}" type="slidenum">
              <a:rPr lang="en-US" smtClean="0"/>
              <a:t>15</a:t>
            </a:fld>
            <a:endParaRPr lang="en-US" dirty="0"/>
          </a:p>
        </p:txBody>
      </p:sp>
    </p:spTree>
    <p:extLst>
      <p:ext uri="{BB962C8B-B14F-4D97-AF65-F5344CB8AC3E}">
        <p14:creationId xmlns:p14="http://schemas.microsoft.com/office/powerpoint/2010/main" val="41382875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A093A4-B819-CF19-DD07-98FE87EA494B}"/>
              </a:ext>
            </a:extLst>
          </p:cNvPr>
          <p:cNvSpPr>
            <a:spLocks noGrp="1"/>
          </p:cNvSpPr>
          <p:nvPr>
            <p:ph idx="1"/>
          </p:nvPr>
        </p:nvSpPr>
        <p:spPr/>
        <p:txBody>
          <a:bodyPr/>
          <a:lstStyle/>
          <a:p>
            <a:pPr marL="0" indent="0">
              <a:buNone/>
            </a:pPr>
            <a:r>
              <a:rPr lang="en-US" dirty="0"/>
              <a:t>5.1 Novelty</a:t>
            </a:r>
          </a:p>
          <a:p>
            <a:pPr marL="0" indent="0">
              <a:buNone/>
            </a:pPr>
            <a:r>
              <a:rPr lang="en-US" dirty="0"/>
              <a:t>5.2 Project Management and Cost Analysis</a:t>
            </a:r>
          </a:p>
          <a:p>
            <a:pPr marL="0" indent="0">
              <a:buNone/>
            </a:pPr>
            <a:r>
              <a:rPr lang="en-US" dirty="0"/>
              <a:t>5.3 Practical Considerations of the Design</a:t>
            </a:r>
          </a:p>
          <a:p>
            <a:pPr marL="0" indent="0">
              <a:buNone/>
            </a:pPr>
            <a:r>
              <a:rPr lang="en-US" dirty="0"/>
              <a:t>5.4 Assessment of the Impact of the Project </a:t>
            </a:r>
          </a:p>
          <a:p>
            <a:pPr marL="0" indent="0">
              <a:buNone/>
            </a:pPr>
            <a:r>
              <a:rPr lang="en-US" dirty="0"/>
              <a:t>5.5 Evaluation of the </a:t>
            </a:r>
            <a:r>
              <a:rPr lang="en-US" dirty="0" smtClean="0"/>
              <a:t>Sustainability</a:t>
            </a:r>
          </a:p>
          <a:p>
            <a:pPr marL="0" indent="0">
              <a:buNone/>
            </a:pPr>
            <a:r>
              <a:rPr lang="en-US" dirty="0" smtClean="0"/>
              <a:t>5.6 Lab Test and Result </a:t>
            </a:r>
            <a:endParaRPr lang="en-US" dirty="0"/>
          </a:p>
        </p:txBody>
      </p:sp>
      <p:sp>
        <p:nvSpPr>
          <p:cNvPr id="3" name="Title 2">
            <a:extLst>
              <a:ext uri="{FF2B5EF4-FFF2-40B4-BE49-F238E27FC236}">
                <a16:creationId xmlns:a16="http://schemas.microsoft.com/office/drawing/2014/main" id="{C0E12B11-FF55-1E34-343C-DA22F2914345}"/>
              </a:ext>
            </a:extLst>
          </p:cNvPr>
          <p:cNvSpPr>
            <a:spLocks noGrp="1"/>
          </p:cNvSpPr>
          <p:nvPr>
            <p:ph type="title"/>
          </p:nvPr>
        </p:nvSpPr>
        <p:spPr/>
        <p:txBody>
          <a:bodyPr/>
          <a:lstStyle/>
          <a:p>
            <a:r>
              <a:rPr lang="en-US" dirty="0"/>
              <a:t>5. Analysis and Evaluation</a:t>
            </a:r>
          </a:p>
        </p:txBody>
      </p:sp>
      <p:sp>
        <p:nvSpPr>
          <p:cNvPr id="4" name="Date Placeholder 3">
            <a:extLst>
              <a:ext uri="{FF2B5EF4-FFF2-40B4-BE49-F238E27FC236}">
                <a16:creationId xmlns:a16="http://schemas.microsoft.com/office/drawing/2014/main" id="{59F11D67-8B99-AC94-58B8-A4103B684569}"/>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497B85BF-1425-2D91-0A88-D0933ED3578A}"/>
              </a:ext>
            </a:extLst>
          </p:cNvPr>
          <p:cNvSpPr>
            <a:spLocks noGrp="1"/>
          </p:cNvSpPr>
          <p:nvPr>
            <p:ph type="ftr" sz="quarter" idx="11"/>
          </p:nvPr>
        </p:nvSpPr>
        <p:spPr/>
        <p:txBody>
          <a:bodyPr/>
          <a:lstStyle/>
          <a:p>
            <a:r>
              <a:rPr lang="en-US" dirty="0"/>
              <a:t>Presented By – </a:t>
            </a:r>
            <a:r>
              <a:rPr lang="en-US" dirty="0" smtClean="0">
                <a:solidFill>
                  <a:srgbClr val="FFFF00"/>
                </a:solidFill>
              </a:rPr>
              <a:t>220021152 ,220021104</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A4C25B82-45A8-6091-E15B-C5DC2CC4A976}"/>
              </a:ext>
            </a:extLst>
          </p:cNvPr>
          <p:cNvSpPr>
            <a:spLocks noGrp="1"/>
          </p:cNvSpPr>
          <p:nvPr>
            <p:ph type="sldNum" sz="quarter" idx="12"/>
          </p:nvPr>
        </p:nvSpPr>
        <p:spPr/>
        <p:txBody>
          <a:bodyPr/>
          <a:lstStyle/>
          <a:p>
            <a:fld id="{1DCA6118-F558-4478-80BF-767359AFE687}" type="slidenum">
              <a:rPr lang="en-US" smtClean="0"/>
              <a:t>16</a:t>
            </a:fld>
            <a:endParaRPr lang="en-US" dirty="0"/>
          </a:p>
        </p:txBody>
      </p:sp>
    </p:spTree>
    <p:extLst>
      <p:ext uri="{BB962C8B-B14F-4D97-AF65-F5344CB8AC3E}">
        <p14:creationId xmlns:p14="http://schemas.microsoft.com/office/powerpoint/2010/main" val="17500403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E5A073-0F73-6EF9-04D4-678605608F92}"/>
              </a:ext>
            </a:extLst>
          </p:cNvPr>
          <p:cNvSpPr>
            <a:spLocks noGrp="1"/>
          </p:cNvSpPr>
          <p:nvPr>
            <p:ph idx="1"/>
          </p:nvPr>
        </p:nvSpPr>
        <p:spPr/>
        <p:txBody>
          <a:bodyPr/>
          <a:lstStyle/>
          <a:p>
            <a:r>
              <a:rPr lang="en-US" dirty="0"/>
              <a:t>We were successfully able to achieve some reaction despite having low cost from the commercial one.</a:t>
            </a:r>
          </a:p>
          <a:p>
            <a:r>
              <a:rPr lang="en-US" dirty="0"/>
              <a:t>We can provide the working procedure to make this into a DIY project</a:t>
            </a:r>
          </a:p>
          <a:p>
            <a:r>
              <a:rPr lang="en-US" dirty="0"/>
              <a:t>We can also test this product for various applications aside from just PCR. (Any reaction that depends on a thermo cycler)</a:t>
            </a:r>
          </a:p>
          <a:p>
            <a:r>
              <a:rPr lang="en-US" dirty="0"/>
              <a:t>We can also ultimately make a manufacturing media where people can work and learn.</a:t>
            </a:r>
          </a:p>
        </p:txBody>
      </p:sp>
      <p:sp>
        <p:nvSpPr>
          <p:cNvPr id="3" name="Title 2">
            <a:extLst>
              <a:ext uri="{FF2B5EF4-FFF2-40B4-BE49-F238E27FC236}">
                <a16:creationId xmlns:a16="http://schemas.microsoft.com/office/drawing/2014/main" id="{A67CF936-6051-F3A3-024A-5827CB16BE0E}"/>
              </a:ext>
            </a:extLst>
          </p:cNvPr>
          <p:cNvSpPr>
            <a:spLocks noGrp="1"/>
          </p:cNvSpPr>
          <p:nvPr>
            <p:ph type="title"/>
          </p:nvPr>
        </p:nvSpPr>
        <p:spPr/>
        <p:txBody>
          <a:bodyPr/>
          <a:lstStyle/>
          <a:p>
            <a:r>
              <a:rPr lang="en-US" dirty="0"/>
              <a:t>5.1 Novelty</a:t>
            </a:r>
          </a:p>
        </p:txBody>
      </p:sp>
      <p:sp>
        <p:nvSpPr>
          <p:cNvPr id="4" name="Date Placeholder 3">
            <a:extLst>
              <a:ext uri="{FF2B5EF4-FFF2-40B4-BE49-F238E27FC236}">
                <a16:creationId xmlns:a16="http://schemas.microsoft.com/office/drawing/2014/main" id="{404E6C09-4B1F-5D66-6D20-38759D179839}"/>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70185020-6EC2-0D2E-0939-56A15013478C}"/>
              </a:ext>
            </a:extLst>
          </p:cNvPr>
          <p:cNvSpPr>
            <a:spLocks noGrp="1"/>
          </p:cNvSpPr>
          <p:nvPr>
            <p:ph type="ftr" sz="quarter" idx="11"/>
          </p:nvPr>
        </p:nvSpPr>
        <p:spPr/>
        <p:txBody>
          <a:bodyPr/>
          <a:lstStyle/>
          <a:p>
            <a:r>
              <a:rPr lang="en-US" dirty="0"/>
              <a:t>Presented By – </a:t>
            </a:r>
            <a:r>
              <a:rPr lang="en-US" dirty="0" smtClean="0">
                <a:solidFill>
                  <a:srgbClr val="FFFF00"/>
                </a:solidFill>
              </a:rPr>
              <a:t>220021104</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1200F689-30EF-6917-807B-7426C57FD5D3}"/>
              </a:ext>
            </a:extLst>
          </p:cNvPr>
          <p:cNvSpPr>
            <a:spLocks noGrp="1"/>
          </p:cNvSpPr>
          <p:nvPr>
            <p:ph type="sldNum" sz="quarter" idx="12"/>
          </p:nvPr>
        </p:nvSpPr>
        <p:spPr/>
        <p:txBody>
          <a:bodyPr/>
          <a:lstStyle/>
          <a:p>
            <a:fld id="{1DCA6118-F558-4478-80BF-767359AFE687}" type="slidenum">
              <a:rPr lang="en-US" smtClean="0"/>
              <a:t>17</a:t>
            </a:fld>
            <a:endParaRPr lang="en-US"/>
          </a:p>
        </p:txBody>
      </p:sp>
    </p:spTree>
    <p:extLst>
      <p:ext uri="{BB962C8B-B14F-4D97-AF65-F5344CB8AC3E}">
        <p14:creationId xmlns:p14="http://schemas.microsoft.com/office/powerpoint/2010/main" val="26636493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C45206-C8C2-AACF-DA6C-57035B6F701A}"/>
              </a:ext>
            </a:extLst>
          </p:cNvPr>
          <p:cNvSpPr>
            <a:spLocks noGrp="1"/>
          </p:cNvSpPr>
          <p:nvPr>
            <p:ph type="title"/>
          </p:nvPr>
        </p:nvSpPr>
        <p:spPr/>
        <p:txBody>
          <a:bodyPr/>
          <a:lstStyle/>
          <a:p>
            <a:r>
              <a:rPr lang="en-US" dirty="0"/>
              <a:t>5.2 Project Management and Cost Analysis</a:t>
            </a:r>
          </a:p>
        </p:txBody>
      </p:sp>
      <p:sp>
        <p:nvSpPr>
          <p:cNvPr id="4" name="Date Placeholder 3">
            <a:extLst>
              <a:ext uri="{FF2B5EF4-FFF2-40B4-BE49-F238E27FC236}">
                <a16:creationId xmlns:a16="http://schemas.microsoft.com/office/drawing/2014/main" id="{6E424D44-DFF1-AB0E-93E2-A6AC35212D47}"/>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9E74280C-ED40-F2A7-68A9-5A3DBAF4F815}"/>
              </a:ext>
            </a:extLst>
          </p:cNvPr>
          <p:cNvSpPr>
            <a:spLocks noGrp="1"/>
          </p:cNvSpPr>
          <p:nvPr>
            <p:ph type="ftr" sz="quarter" idx="11"/>
          </p:nvPr>
        </p:nvSpPr>
        <p:spPr/>
        <p:txBody>
          <a:bodyPr/>
          <a:lstStyle/>
          <a:p>
            <a:r>
              <a:rPr lang="en-US" dirty="0"/>
              <a:t>Presented By – </a:t>
            </a:r>
            <a:r>
              <a:rPr lang="en-US" dirty="0" smtClean="0">
                <a:solidFill>
                  <a:srgbClr val="FFFF00"/>
                </a:solidFill>
              </a:rPr>
              <a:t>220021152</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E788A061-AE44-4B2A-7CD8-60C45A1443BD}"/>
              </a:ext>
            </a:extLst>
          </p:cNvPr>
          <p:cNvSpPr>
            <a:spLocks noGrp="1"/>
          </p:cNvSpPr>
          <p:nvPr>
            <p:ph type="sldNum" sz="quarter" idx="12"/>
          </p:nvPr>
        </p:nvSpPr>
        <p:spPr/>
        <p:txBody>
          <a:bodyPr/>
          <a:lstStyle/>
          <a:p>
            <a:fld id="{1DCA6118-F558-4478-80BF-767359AFE687}" type="slidenum">
              <a:rPr lang="en-US" smtClean="0"/>
              <a:t>18</a:t>
            </a:fld>
            <a:endParaRPr lang="en-US"/>
          </a:p>
        </p:txBody>
      </p:sp>
      <p:graphicFrame>
        <p:nvGraphicFramePr>
          <p:cNvPr id="9" name="Table 9">
            <a:extLst>
              <a:ext uri="{FF2B5EF4-FFF2-40B4-BE49-F238E27FC236}">
                <a16:creationId xmlns:a16="http://schemas.microsoft.com/office/drawing/2014/main" id="{DF7CD6B3-351D-4FFF-9968-59ACCAF26A40}"/>
              </a:ext>
            </a:extLst>
          </p:cNvPr>
          <p:cNvGraphicFramePr>
            <a:graphicFrameLocks noGrp="1"/>
          </p:cNvGraphicFramePr>
          <p:nvPr>
            <p:extLst>
              <p:ext uri="{D42A27DB-BD31-4B8C-83A1-F6EECF244321}">
                <p14:modId xmlns:p14="http://schemas.microsoft.com/office/powerpoint/2010/main" val="3116376202"/>
              </p:ext>
            </p:extLst>
          </p:nvPr>
        </p:nvGraphicFramePr>
        <p:xfrm>
          <a:off x="924560" y="1690688"/>
          <a:ext cx="11003280" cy="4519584"/>
        </p:xfrm>
        <a:graphic>
          <a:graphicData uri="http://schemas.openxmlformats.org/drawingml/2006/table">
            <a:tbl>
              <a:tblPr firstRow="1" bandRow="1">
                <a:tableStyleId>{5C22544A-7EE6-4342-B048-85BDC9FD1C3A}</a:tableStyleId>
              </a:tblPr>
              <a:tblGrid>
                <a:gridCol w="3667760">
                  <a:extLst>
                    <a:ext uri="{9D8B030D-6E8A-4147-A177-3AD203B41FA5}">
                      <a16:colId xmlns:a16="http://schemas.microsoft.com/office/drawing/2014/main" val="3081572249"/>
                    </a:ext>
                  </a:extLst>
                </a:gridCol>
                <a:gridCol w="3667760">
                  <a:extLst>
                    <a:ext uri="{9D8B030D-6E8A-4147-A177-3AD203B41FA5}">
                      <a16:colId xmlns:a16="http://schemas.microsoft.com/office/drawing/2014/main" val="3047354120"/>
                    </a:ext>
                  </a:extLst>
                </a:gridCol>
                <a:gridCol w="3667760">
                  <a:extLst>
                    <a:ext uri="{9D8B030D-6E8A-4147-A177-3AD203B41FA5}">
                      <a16:colId xmlns:a16="http://schemas.microsoft.com/office/drawing/2014/main" val="5119252"/>
                    </a:ext>
                  </a:extLst>
                </a:gridCol>
              </a:tblGrid>
              <a:tr h="539904">
                <a:tc>
                  <a:txBody>
                    <a:bodyPr/>
                    <a:lstStyle/>
                    <a:p>
                      <a:r>
                        <a:rPr lang="en-US" dirty="0"/>
                        <a:t>Product Name </a:t>
                      </a:r>
                    </a:p>
                  </a:txBody>
                  <a:tcPr/>
                </a:tc>
                <a:tc>
                  <a:txBody>
                    <a:bodyPr/>
                    <a:lstStyle/>
                    <a:p>
                      <a:r>
                        <a:rPr lang="en-US" dirty="0"/>
                        <a:t>Unit</a:t>
                      </a:r>
                    </a:p>
                  </a:txBody>
                  <a:tcPr/>
                </a:tc>
                <a:tc>
                  <a:txBody>
                    <a:bodyPr/>
                    <a:lstStyle/>
                    <a:p>
                      <a:r>
                        <a:rPr lang="en-US" dirty="0"/>
                        <a:t>Price-</a:t>
                      </a:r>
                    </a:p>
                  </a:txBody>
                  <a:tcPr/>
                </a:tc>
                <a:extLst>
                  <a:ext uri="{0D108BD9-81ED-4DB2-BD59-A6C34878D82A}">
                    <a16:rowId xmlns:a16="http://schemas.microsoft.com/office/drawing/2014/main" val="2407961713"/>
                  </a:ext>
                </a:extLst>
              </a:tr>
              <a:tr h="539904">
                <a:tc>
                  <a:txBody>
                    <a:bodyPr/>
                    <a:lstStyle/>
                    <a:p>
                      <a:r>
                        <a:rPr lang="en-US" dirty="0"/>
                        <a:t>Aluminum Thermal Block</a:t>
                      </a:r>
                    </a:p>
                  </a:txBody>
                  <a:tcPr/>
                </a:tc>
                <a:tc>
                  <a:txBody>
                    <a:bodyPr/>
                    <a:lstStyle/>
                    <a:p>
                      <a:r>
                        <a:rPr lang="en-US" dirty="0"/>
                        <a:t>1</a:t>
                      </a:r>
                    </a:p>
                  </a:txBody>
                  <a:tcPr/>
                </a:tc>
                <a:tc>
                  <a:txBody>
                    <a:bodyPr/>
                    <a:lstStyle/>
                    <a:p>
                      <a:r>
                        <a:rPr lang="en-US" dirty="0"/>
                        <a:t>6000/-</a:t>
                      </a:r>
                    </a:p>
                  </a:txBody>
                  <a:tcPr/>
                </a:tc>
                <a:extLst>
                  <a:ext uri="{0D108BD9-81ED-4DB2-BD59-A6C34878D82A}">
                    <a16:rowId xmlns:a16="http://schemas.microsoft.com/office/drawing/2014/main" val="28803495"/>
                  </a:ext>
                </a:extLst>
              </a:tr>
              <a:tr h="539904">
                <a:tc>
                  <a:txBody>
                    <a:bodyPr/>
                    <a:lstStyle/>
                    <a:p>
                      <a:r>
                        <a:rPr lang="en-US" dirty="0"/>
                        <a:t>SMPS 12V 10A</a:t>
                      </a:r>
                    </a:p>
                  </a:txBody>
                  <a:tcPr/>
                </a:tc>
                <a:tc>
                  <a:txBody>
                    <a:bodyPr/>
                    <a:lstStyle/>
                    <a:p>
                      <a:r>
                        <a:rPr lang="en-US" dirty="0"/>
                        <a:t>1</a:t>
                      </a:r>
                    </a:p>
                  </a:txBody>
                  <a:tcPr/>
                </a:tc>
                <a:tc>
                  <a:txBody>
                    <a:bodyPr/>
                    <a:lstStyle/>
                    <a:p>
                      <a:r>
                        <a:rPr lang="en-US" dirty="0"/>
                        <a:t>870/-</a:t>
                      </a:r>
                    </a:p>
                  </a:txBody>
                  <a:tcPr/>
                </a:tc>
                <a:extLst>
                  <a:ext uri="{0D108BD9-81ED-4DB2-BD59-A6C34878D82A}">
                    <a16:rowId xmlns:a16="http://schemas.microsoft.com/office/drawing/2014/main" val="906631996"/>
                  </a:ext>
                </a:extLst>
              </a:tr>
              <a:tr h="539904">
                <a:tc>
                  <a:txBody>
                    <a:bodyPr/>
                    <a:lstStyle/>
                    <a:p>
                      <a:r>
                        <a:rPr lang="en-US" dirty="0"/>
                        <a:t>Rechargeable 9V Battery</a:t>
                      </a:r>
                    </a:p>
                  </a:txBody>
                  <a:tcPr/>
                </a:tc>
                <a:tc>
                  <a:txBody>
                    <a:bodyPr/>
                    <a:lstStyle/>
                    <a:p>
                      <a:r>
                        <a:rPr lang="en-US" dirty="0"/>
                        <a:t>1</a:t>
                      </a:r>
                    </a:p>
                  </a:txBody>
                  <a:tcPr/>
                </a:tc>
                <a:tc>
                  <a:txBody>
                    <a:bodyPr/>
                    <a:lstStyle/>
                    <a:p>
                      <a:r>
                        <a:rPr lang="en-US" dirty="0"/>
                        <a:t>360/-</a:t>
                      </a:r>
                    </a:p>
                  </a:txBody>
                  <a:tcPr/>
                </a:tc>
                <a:extLst>
                  <a:ext uri="{0D108BD9-81ED-4DB2-BD59-A6C34878D82A}">
                    <a16:rowId xmlns:a16="http://schemas.microsoft.com/office/drawing/2014/main" val="616971905"/>
                  </a:ext>
                </a:extLst>
              </a:tr>
              <a:tr h="539904">
                <a:tc>
                  <a:txBody>
                    <a:bodyPr/>
                    <a:lstStyle/>
                    <a:p>
                      <a:r>
                        <a:rPr lang="en-US" dirty="0"/>
                        <a:t>Buck Converter</a:t>
                      </a:r>
                    </a:p>
                  </a:txBody>
                  <a:tcPr/>
                </a:tc>
                <a:tc>
                  <a:txBody>
                    <a:bodyPr/>
                    <a:lstStyle/>
                    <a:p>
                      <a:r>
                        <a:rPr lang="en-US" dirty="0"/>
                        <a:t>1</a:t>
                      </a:r>
                    </a:p>
                  </a:txBody>
                  <a:tcPr/>
                </a:tc>
                <a:tc>
                  <a:txBody>
                    <a:bodyPr/>
                    <a:lstStyle/>
                    <a:p>
                      <a:r>
                        <a:rPr lang="en-US" dirty="0"/>
                        <a:t>220/-</a:t>
                      </a:r>
                    </a:p>
                  </a:txBody>
                  <a:tcPr/>
                </a:tc>
                <a:extLst>
                  <a:ext uri="{0D108BD9-81ED-4DB2-BD59-A6C34878D82A}">
                    <a16:rowId xmlns:a16="http://schemas.microsoft.com/office/drawing/2014/main" val="3691204537"/>
                  </a:ext>
                </a:extLst>
              </a:tr>
              <a:tr h="539904">
                <a:tc>
                  <a:txBody>
                    <a:bodyPr/>
                    <a:lstStyle/>
                    <a:p>
                      <a:r>
                        <a:rPr lang="en-US" dirty="0"/>
                        <a:t>High Power Resistor (10Ω)</a:t>
                      </a:r>
                    </a:p>
                  </a:txBody>
                  <a:tcPr/>
                </a:tc>
                <a:tc>
                  <a:txBody>
                    <a:bodyPr/>
                    <a:lstStyle/>
                    <a:p>
                      <a:r>
                        <a:rPr lang="en-US" dirty="0"/>
                        <a:t>2</a:t>
                      </a:r>
                    </a:p>
                  </a:txBody>
                  <a:tcPr/>
                </a:tc>
                <a:tc>
                  <a:txBody>
                    <a:bodyPr/>
                    <a:lstStyle/>
                    <a:p>
                      <a:r>
                        <a:rPr lang="en-US" dirty="0"/>
                        <a:t>20×2 = 40/-</a:t>
                      </a:r>
                    </a:p>
                  </a:txBody>
                  <a:tcPr/>
                </a:tc>
                <a:extLst>
                  <a:ext uri="{0D108BD9-81ED-4DB2-BD59-A6C34878D82A}">
                    <a16:rowId xmlns:a16="http://schemas.microsoft.com/office/drawing/2014/main" val="815163830"/>
                  </a:ext>
                </a:extLst>
              </a:tr>
              <a:tr h="6134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 Power Resistor (18Ω)</a:t>
                      </a:r>
                    </a:p>
                    <a:p>
                      <a:endParaRPr lang="en-US" dirty="0"/>
                    </a:p>
                  </a:txBody>
                  <a:tcPr/>
                </a:tc>
                <a:tc>
                  <a:txBody>
                    <a:bodyPr/>
                    <a:lstStyle/>
                    <a:p>
                      <a:r>
                        <a:rPr lang="en-US" dirty="0"/>
                        <a:t>2</a:t>
                      </a:r>
                    </a:p>
                  </a:txBody>
                  <a:tcPr/>
                </a:tc>
                <a:tc>
                  <a:txBody>
                    <a:bodyPr/>
                    <a:lstStyle/>
                    <a:p>
                      <a:r>
                        <a:rPr lang="en-US" dirty="0"/>
                        <a:t>18×2 = 36/-</a:t>
                      </a:r>
                    </a:p>
                  </a:txBody>
                  <a:tcPr/>
                </a:tc>
                <a:extLst>
                  <a:ext uri="{0D108BD9-81ED-4DB2-BD59-A6C34878D82A}">
                    <a16:rowId xmlns:a16="http://schemas.microsoft.com/office/drawing/2014/main" val="1209465735"/>
                  </a:ext>
                </a:extLst>
              </a:tr>
              <a:tr h="6134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 Power Resistor (6.8Ω)</a:t>
                      </a:r>
                    </a:p>
                    <a:p>
                      <a:endParaRPr lang="en-US" dirty="0"/>
                    </a:p>
                  </a:txBody>
                  <a:tcPr/>
                </a:tc>
                <a:tc>
                  <a:txBody>
                    <a:bodyPr/>
                    <a:lstStyle/>
                    <a:p>
                      <a:r>
                        <a:rPr lang="en-US" dirty="0"/>
                        <a:t>4</a:t>
                      </a:r>
                    </a:p>
                  </a:txBody>
                  <a:tcPr/>
                </a:tc>
                <a:tc>
                  <a:txBody>
                    <a:bodyPr/>
                    <a:lstStyle/>
                    <a:p>
                      <a:r>
                        <a:rPr lang="en-US" dirty="0"/>
                        <a:t>10×4 = 40/-</a:t>
                      </a:r>
                    </a:p>
                  </a:txBody>
                  <a:tcPr/>
                </a:tc>
                <a:extLst>
                  <a:ext uri="{0D108BD9-81ED-4DB2-BD59-A6C34878D82A}">
                    <a16:rowId xmlns:a16="http://schemas.microsoft.com/office/drawing/2014/main" val="1497723316"/>
                  </a:ext>
                </a:extLst>
              </a:tr>
            </a:tbl>
          </a:graphicData>
        </a:graphic>
      </p:graphicFrame>
    </p:spTree>
    <p:extLst>
      <p:ext uri="{BB962C8B-B14F-4D97-AF65-F5344CB8AC3E}">
        <p14:creationId xmlns:p14="http://schemas.microsoft.com/office/powerpoint/2010/main" val="6156416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C45206-C8C2-AACF-DA6C-57035B6F701A}"/>
              </a:ext>
            </a:extLst>
          </p:cNvPr>
          <p:cNvSpPr>
            <a:spLocks noGrp="1"/>
          </p:cNvSpPr>
          <p:nvPr>
            <p:ph type="title"/>
          </p:nvPr>
        </p:nvSpPr>
        <p:spPr/>
        <p:txBody>
          <a:bodyPr/>
          <a:lstStyle/>
          <a:p>
            <a:r>
              <a:rPr lang="en-US" dirty="0"/>
              <a:t>5.2 Project Management and Cost Analysis</a:t>
            </a:r>
          </a:p>
        </p:txBody>
      </p:sp>
      <p:sp>
        <p:nvSpPr>
          <p:cNvPr id="4" name="Date Placeholder 3">
            <a:extLst>
              <a:ext uri="{FF2B5EF4-FFF2-40B4-BE49-F238E27FC236}">
                <a16:creationId xmlns:a16="http://schemas.microsoft.com/office/drawing/2014/main" id="{6E424D44-DFF1-AB0E-93E2-A6AC35212D47}"/>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9E74280C-ED40-F2A7-68A9-5A3DBAF4F815}"/>
              </a:ext>
            </a:extLst>
          </p:cNvPr>
          <p:cNvSpPr>
            <a:spLocks noGrp="1"/>
          </p:cNvSpPr>
          <p:nvPr>
            <p:ph type="ftr" sz="quarter" idx="11"/>
          </p:nvPr>
        </p:nvSpPr>
        <p:spPr/>
        <p:txBody>
          <a:bodyPr/>
          <a:lstStyle/>
          <a:p>
            <a:r>
              <a:rPr lang="en-US" dirty="0"/>
              <a:t>Presented By – </a:t>
            </a:r>
            <a:r>
              <a:rPr lang="en-US" dirty="0" smtClean="0">
                <a:solidFill>
                  <a:srgbClr val="FFFF00"/>
                </a:solidFill>
              </a:rPr>
              <a:t>220021152</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E788A061-AE44-4B2A-7CD8-60C45A1443BD}"/>
              </a:ext>
            </a:extLst>
          </p:cNvPr>
          <p:cNvSpPr>
            <a:spLocks noGrp="1"/>
          </p:cNvSpPr>
          <p:nvPr>
            <p:ph type="sldNum" sz="quarter" idx="12"/>
          </p:nvPr>
        </p:nvSpPr>
        <p:spPr/>
        <p:txBody>
          <a:bodyPr/>
          <a:lstStyle/>
          <a:p>
            <a:fld id="{1DCA6118-F558-4478-80BF-767359AFE687}" type="slidenum">
              <a:rPr lang="en-US" smtClean="0"/>
              <a:t>19</a:t>
            </a:fld>
            <a:endParaRPr lang="en-US"/>
          </a:p>
        </p:txBody>
      </p:sp>
      <p:graphicFrame>
        <p:nvGraphicFramePr>
          <p:cNvPr id="9" name="Table 9">
            <a:extLst>
              <a:ext uri="{FF2B5EF4-FFF2-40B4-BE49-F238E27FC236}">
                <a16:creationId xmlns:a16="http://schemas.microsoft.com/office/drawing/2014/main" id="{DF7CD6B3-351D-4FFF-9968-59ACCAF26A40}"/>
              </a:ext>
            </a:extLst>
          </p:cNvPr>
          <p:cNvGraphicFramePr>
            <a:graphicFrameLocks noGrp="1"/>
          </p:cNvGraphicFramePr>
          <p:nvPr>
            <p:extLst>
              <p:ext uri="{D42A27DB-BD31-4B8C-83A1-F6EECF244321}">
                <p14:modId xmlns:p14="http://schemas.microsoft.com/office/powerpoint/2010/main" val="1170824574"/>
              </p:ext>
            </p:extLst>
          </p:nvPr>
        </p:nvGraphicFramePr>
        <p:xfrm>
          <a:off x="924560" y="1690689"/>
          <a:ext cx="10759439" cy="4474493"/>
        </p:xfrm>
        <a:graphic>
          <a:graphicData uri="http://schemas.openxmlformats.org/drawingml/2006/table">
            <a:tbl>
              <a:tblPr firstRow="1" bandRow="1">
                <a:tableStyleId>{5C22544A-7EE6-4342-B048-85BDC9FD1C3A}</a:tableStyleId>
              </a:tblPr>
              <a:tblGrid>
                <a:gridCol w="4846320">
                  <a:extLst>
                    <a:ext uri="{9D8B030D-6E8A-4147-A177-3AD203B41FA5}">
                      <a16:colId xmlns:a16="http://schemas.microsoft.com/office/drawing/2014/main" val="3081572249"/>
                    </a:ext>
                  </a:extLst>
                </a:gridCol>
                <a:gridCol w="1988960">
                  <a:extLst>
                    <a:ext uri="{9D8B030D-6E8A-4147-A177-3AD203B41FA5}">
                      <a16:colId xmlns:a16="http://schemas.microsoft.com/office/drawing/2014/main" val="3047354120"/>
                    </a:ext>
                  </a:extLst>
                </a:gridCol>
                <a:gridCol w="3924159">
                  <a:extLst>
                    <a:ext uri="{9D8B030D-6E8A-4147-A177-3AD203B41FA5}">
                      <a16:colId xmlns:a16="http://schemas.microsoft.com/office/drawing/2014/main" val="5119252"/>
                    </a:ext>
                  </a:extLst>
                </a:gridCol>
              </a:tblGrid>
              <a:tr h="486502">
                <a:tc>
                  <a:txBody>
                    <a:bodyPr/>
                    <a:lstStyle/>
                    <a:p>
                      <a:r>
                        <a:rPr lang="en-US" dirty="0"/>
                        <a:t>Product Name</a:t>
                      </a:r>
                    </a:p>
                  </a:txBody>
                  <a:tcPr/>
                </a:tc>
                <a:tc>
                  <a:txBody>
                    <a:bodyPr/>
                    <a:lstStyle/>
                    <a:p>
                      <a:r>
                        <a:rPr lang="en-US" dirty="0"/>
                        <a:t>Unit</a:t>
                      </a:r>
                    </a:p>
                  </a:txBody>
                  <a:tcPr/>
                </a:tc>
                <a:tc>
                  <a:txBody>
                    <a:bodyPr/>
                    <a:lstStyle/>
                    <a:p>
                      <a:r>
                        <a:rPr lang="en-US" dirty="0"/>
                        <a:t>Price-</a:t>
                      </a:r>
                    </a:p>
                  </a:txBody>
                  <a:tcPr/>
                </a:tc>
                <a:extLst>
                  <a:ext uri="{0D108BD9-81ED-4DB2-BD59-A6C34878D82A}">
                    <a16:rowId xmlns:a16="http://schemas.microsoft.com/office/drawing/2014/main" val="2407961713"/>
                  </a:ext>
                </a:extLst>
              </a:tr>
              <a:tr h="486502">
                <a:tc>
                  <a:txBody>
                    <a:bodyPr/>
                    <a:lstStyle/>
                    <a:p>
                      <a:r>
                        <a:rPr lang="en-US" dirty="0"/>
                        <a:t>Thermoelectric Cooler</a:t>
                      </a:r>
                    </a:p>
                  </a:txBody>
                  <a:tcPr/>
                </a:tc>
                <a:tc>
                  <a:txBody>
                    <a:bodyPr/>
                    <a:lstStyle/>
                    <a:p>
                      <a:r>
                        <a:rPr lang="en-US" dirty="0"/>
                        <a:t>1</a:t>
                      </a:r>
                    </a:p>
                  </a:txBody>
                  <a:tcPr/>
                </a:tc>
                <a:tc>
                  <a:txBody>
                    <a:bodyPr/>
                    <a:lstStyle/>
                    <a:p>
                      <a:r>
                        <a:rPr lang="en-US" dirty="0"/>
                        <a:t>465/-</a:t>
                      </a:r>
                    </a:p>
                  </a:txBody>
                  <a:tcPr/>
                </a:tc>
                <a:extLst>
                  <a:ext uri="{0D108BD9-81ED-4DB2-BD59-A6C34878D82A}">
                    <a16:rowId xmlns:a16="http://schemas.microsoft.com/office/drawing/2014/main" val="28803495"/>
                  </a:ext>
                </a:extLst>
              </a:tr>
              <a:tr h="486502">
                <a:tc>
                  <a:txBody>
                    <a:bodyPr/>
                    <a:lstStyle/>
                    <a:p>
                      <a:r>
                        <a:rPr lang="en-US" dirty="0"/>
                        <a:t>12V DC Fan</a:t>
                      </a:r>
                    </a:p>
                  </a:txBody>
                  <a:tcPr/>
                </a:tc>
                <a:tc>
                  <a:txBody>
                    <a:bodyPr/>
                    <a:lstStyle/>
                    <a:p>
                      <a:r>
                        <a:rPr lang="en-US" dirty="0"/>
                        <a:t>1</a:t>
                      </a:r>
                    </a:p>
                  </a:txBody>
                  <a:tcPr/>
                </a:tc>
                <a:tc>
                  <a:txBody>
                    <a:bodyPr/>
                    <a:lstStyle/>
                    <a:p>
                      <a:r>
                        <a:rPr lang="en-US" dirty="0"/>
                        <a:t>150/-</a:t>
                      </a:r>
                    </a:p>
                  </a:txBody>
                  <a:tcPr/>
                </a:tc>
                <a:extLst>
                  <a:ext uri="{0D108BD9-81ED-4DB2-BD59-A6C34878D82A}">
                    <a16:rowId xmlns:a16="http://schemas.microsoft.com/office/drawing/2014/main" val="906631996"/>
                  </a:ext>
                </a:extLst>
              </a:tr>
              <a:tr h="486502">
                <a:tc>
                  <a:txBody>
                    <a:bodyPr/>
                    <a:lstStyle/>
                    <a:p>
                      <a:r>
                        <a:rPr lang="en-US" dirty="0"/>
                        <a:t>Heatsink</a:t>
                      </a:r>
                    </a:p>
                  </a:txBody>
                  <a:tcPr/>
                </a:tc>
                <a:tc>
                  <a:txBody>
                    <a:bodyPr/>
                    <a:lstStyle/>
                    <a:p>
                      <a:r>
                        <a:rPr lang="en-US" dirty="0"/>
                        <a:t>1</a:t>
                      </a:r>
                    </a:p>
                  </a:txBody>
                  <a:tcPr/>
                </a:tc>
                <a:tc>
                  <a:txBody>
                    <a:bodyPr/>
                    <a:lstStyle/>
                    <a:p>
                      <a:r>
                        <a:rPr lang="en-US" dirty="0"/>
                        <a:t>70/-</a:t>
                      </a:r>
                    </a:p>
                  </a:txBody>
                  <a:tcPr/>
                </a:tc>
                <a:extLst>
                  <a:ext uri="{0D108BD9-81ED-4DB2-BD59-A6C34878D82A}">
                    <a16:rowId xmlns:a16="http://schemas.microsoft.com/office/drawing/2014/main" val="616971905"/>
                  </a:ext>
                </a:extLst>
              </a:tr>
              <a:tr h="4380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MAX6675 Module And K Type Thermocouple</a:t>
                      </a:r>
                    </a:p>
                  </a:txBody>
                  <a:tcPr/>
                </a:tc>
                <a:tc>
                  <a:txBody>
                    <a:bodyPr/>
                    <a:lstStyle/>
                    <a:p>
                      <a:r>
                        <a:rPr lang="en-US" dirty="0"/>
                        <a:t>1</a:t>
                      </a:r>
                    </a:p>
                  </a:txBody>
                  <a:tcPr/>
                </a:tc>
                <a:tc>
                  <a:txBody>
                    <a:bodyPr/>
                    <a:lstStyle/>
                    <a:p>
                      <a:r>
                        <a:rPr lang="en-US" dirty="0"/>
                        <a:t>380/-</a:t>
                      </a:r>
                    </a:p>
                  </a:txBody>
                  <a:tcPr/>
                </a:tc>
                <a:extLst>
                  <a:ext uri="{0D108BD9-81ED-4DB2-BD59-A6C34878D82A}">
                    <a16:rowId xmlns:a16="http://schemas.microsoft.com/office/drawing/2014/main" val="3691204537"/>
                  </a:ext>
                </a:extLst>
              </a:tr>
              <a:tr h="486502">
                <a:tc>
                  <a:txBody>
                    <a:bodyPr/>
                    <a:lstStyle/>
                    <a:p>
                      <a:r>
                        <a:rPr lang="en-US" dirty="0"/>
                        <a:t>2-Channel Relay Module</a:t>
                      </a:r>
                    </a:p>
                  </a:txBody>
                  <a:tcPr/>
                </a:tc>
                <a:tc>
                  <a:txBody>
                    <a:bodyPr/>
                    <a:lstStyle/>
                    <a:p>
                      <a:r>
                        <a:rPr lang="en-US" dirty="0"/>
                        <a:t>1</a:t>
                      </a:r>
                    </a:p>
                  </a:txBody>
                  <a:tcPr/>
                </a:tc>
                <a:tc>
                  <a:txBody>
                    <a:bodyPr/>
                    <a:lstStyle/>
                    <a:p>
                      <a:r>
                        <a:rPr lang="en-US" dirty="0"/>
                        <a:t>130/-</a:t>
                      </a:r>
                    </a:p>
                  </a:txBody>
                  <a:tcPr/>
                </a:tc>
                <a:extLst>
                  <a:ext uri="{0D108BD9-81ED-4DB2-BD59-A6C34878D82A}">
                    <a16:rowId xmlns:a16="http://schemas.microsoft.com/office/drawing/2014/main" val="815163830"/>
                  </a:ext>
                </a:extLst>
              </a:tr>
              <a:tr h="498435">
                <a:tc>
                  <a:txBody>
                    <a:bodyPr/>
                    <a:lstStyle/>
                    <a:p>
                      <a:r>
                        <a:rPr lang="en-US" dirty="0"/>
                        <a:t>Arduino Uno</a:t>
                      </a:r>
                    </a:p>
                  </a:txBody>
                  <a:tcPr/>
                </a:tc>
                <a:tc>
                  <a:txBody>
                    <a:bodyPr/>
                    <a:lstStyle/>
                    <a:p>
                      <a:r>
                        <a:rPr lang="en-US" dirty="0"/>
                        <a:t>1</a:t>
                      </a:r>
                    </a:p>
                  </a:txBody>
                  <a:tcPr/>
                </a:tc>
                <a:tc>
                  <a:txBody>
                    <a:bodyPr/>
                    <a:lstStyle/>
                    <a:p>
                      <a:r>
                        <a:rPr lang="en-US" dirty="0"/>
                        <a:t>950/-</a:t>
                      </a:r>
                    </a:p>
                  </a:txBody>
                  <a:tcPr/>
                </a:tc>
                <a:extLst>
                  <a:ext uri="{0D108BD9-81ED-4DB2-BD59-A6C34878D82A}">
                    <a16:rowId xmlns:a16="http://schemas.microsoft.com/office/drawing/2014/main" val="1209465735"/>
                  </a:ext>
                </a:extLst>
              </a:tr>
              <a:tr h="552751">
                <a:tc>
                  <a:txBody>
                    <a:bodyPr/>
                    <a:lstStyle/>
                    <a:p>
                      <a:r>
                        <a:rPr lang="en-US" dirty="0"/>
                        <a:t>LCD Display 16×2</a:t>
                      </a:r>
                    </a:p>
                  </a:txBody>
                  <a:tcPr/>
                </a:tc>
                <a:tc>
                  <a:txBody>
                    <a:bodyPr/>
                    <a:lstStyle/>
                    <a:p>
                      <a:r>
                        <a:rPr lang="en-US" dirty="0"/>
                        <a:t>1</a:t>
                      </a:r>
                    </a:p>
                  </a:txBody>
                  <a:tcPr/>
                </a:tc>
                <a:tc>
                  <a:txBody>
                    <a:bodyPr/>
                    <a:lstStyle/>
                    <a:p>
                      <a:r>
                        <a:rPr lang="en-US" dirty="0"/>
                        <a:t>240/-</a:t>
                      </a:r>
                    </a:p>
                  </a:txBody>
                  <a:tcPr/>
                </a:tc>
                <a:extLst>
                  <a:ext uri="{0D108BD9-81ED-4DB2-BD59-A6C34878D82A}">
                    <a16:rowId xmlns:a16="http://schemas.microsoft.com/office/drawing/2014/main" val="2776164528"/>
                  </a:ext>
                </a:extLst>
              </a:tr>
              <a:tr h="552751">
                <a:tc>
                  <a:txBody>
                    <a:bodyPr/>
                    <a:lstStyle/>
                    <a:p>
                      <a:r>
                        <a:rPr lang="en-US" dirty="0"/>
                        <a:t>I2C LCD Adapter</a:t>
                      </a:r>
                    </a:p>
                  </a:txBody>
                  <a:tcPr/>
                </a:tc>
                <a:tc>
                  <a:txBody>
                    <a:bodyPr/>
                    <a:lstStyle/>
                    <a:p>
                      <a:r>
                        <a:rPr lang="en-US" dirty="0"/>
                        <a:t>1</a:t>
                      </a:r>
                    </a:p>
                  </a:txBody>
                  <a:tcPr/>
                </a:tc>
                <a:tc>
                  <a:txBody>
                    <a:bodyPr/>
                    <a:lstStyle/>
                    <a:p>
                      <a:r>
                        <a:rPr lang="en-US" dirty="0"/>
                        <a:t>70/-</a:t>
                      </a:r>
                    </a:p>
                  </a:txBody>
                  <a:tcPr/>
                </a:tc>
                <a:extLst>
                  <a:ext uri="{0D108BD9-81ED-4DB2-BD59-A6C34878D82A}">
                    <a16:rowId xmlns:a16="http://schemas.microsoft.com/office/drawing/2014/main" val="1918153444"/>
                  </a:ext>
                </a:extLst>
              </a:tr>
            </a:tbl>
          </a:graphicData>
        </a:graphic>
      </p:graphicFrame>
    </p:spTree>
    <p:extLst>
      <p:ext uri="{BB962C8B-B14F-4D97-AF65-F5344CB8AC3E}">
        <p14:creationId xmlns:p14="http://schemas.microsoft.com/office/powerpoint/2010/main" val="35865203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C45206-C8C2-AACF-DA6C-57035B6F701A}"/>
              </a:ext>
            </a:extLst>
          </p:cNvPr>
          <p:cNvSpPr>
            <a:spLocks noGrp="1"/>
          </p:cNvSpPr>
          <p:nvPr>
            <p:ph type="title"/>
          </p:nvPr>
        </p:nvSpPr>
        <p:spPr/>
        <p:txBody>
          <a:bodyPr/>
          <a:lstStyle/>
          <a:p>
            <a:r>
              <a:rPr lang="en-US" dirty="0"/>
              <a:t>5.2 Project Management and Cost Analysis</a:t>
            </a:r>
          </a:p>
        </p:txBody>
      </p:sp>
      <p:sp>
        <p:nvSpPr>
          <p:cNvPr id="4" name="Date Placeholder 3">
            <a:extLst>
              <a:ext uri="{FF2B5EF4-FFF2-40B4-BE49-F238E27FC236}">
                <a16:creationId xmlns:a16="http://schemas.microsoft.com/office/drawing/2014/main" id="{6E424D44-DFF1-AB0E-93E2-A6AC35212D47}"/>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9E74280C-ED40-F2A7-68A9-5A3DBAF4F815}"/>
              </a:ext>
            </a:extLst>
          </p:cNvPr>
          <p:cNvSpPr>
            <a:spLocks noGrp="1"/>
          </p:cNvSpPr>
          <p:nvPr>
            <p:ph type="ftr" sz="quarter" idx="11"/>
          </p:nvPr>
        </p:nvSpPr>
        <p:spPr/>
        <p:txBody>
          <a:bodyPr/>
          <a:lstStyle/>
          <a:p>
            <a:r>
              <a:rPr lang="en-US" dirty="0"/>
              <a:t>Presented By – </a:t>
            </a:r>
            <a:r>
              <a:rPr lang="en-US" dirty="0" smtClean="0">
                <a:solidFill>
                  <a:srgbClr val="FFFF00"/>
                </a:solidFill>
              </a:rPr>
              <a:t>220021152</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E788A061-AE44-4B2A-7CD8-60C45A1443BD}"/>
              </a:ext>
            </a:extLst>
          </p:cNvPr>
          <p:cNvSpPr>
            <a:spLocks noGrp="1"/>
          </p:cNvSpPr>
          <p:nvPr>
            <p:ph type="sldNum" sz="quarter" idx="12"/>
          </p:nvPr>
        </p:nvSpPr>
        <p:spPr/>
        <p:txBody>
          <a:bodyPr/>
          <a:lstStyle/>
          <a:p>
            <a:fld id="{1DCA6118-F558-4478-80BF-767359AFE687}" type="slidenum">
              <a:rPr lang="en-US" smtClean="0"/>
              <a:t>20</a:t>
            </a:fld>
            <a:endParaRPr lang="en-US"/>
          </a:p>
        </p:txBody>
      </p:sp>
      <p:sp>
        <p:nvSpPr>
          <p:cNvPr id="8" name="Content Placeholder 1">
            <a:extLst>
              <a:ext uri="{FF2B5EF4-FFF2-40B4-BE49-F238E27FC236}">
                <a16:creationId xmlns:a16="http://schemas.microsoft.com/office/drawing/2014/main" id="{7FE0BF2F-14DC-473C-B070-B31A94530247}"/>
              </a:ext>
            </a:extLst>
          </p:cNvPr>
          <p:cNvSpPr>
            <a:spLocks noGrp="1"/>
          </p:cNvSpPr>
          <p:nvPr>
            <p:ph idx="1"/>
          </p:nvPr>
        </p:nvSpPr>
        <p:spPr>
          <a:xfrm>
            <a:off x="838200" y="1690688"/>
            <a:ext cx="10515600" cy="4351338"/>
          </a:xfrm>
        </p:spPr>
        <p:txBody>
          <a:bodyPr/>
          <a:lstStyle/>
          <a:p>
            <a:pPr algn="just"/>
            <a:r>
              <a:rPr lang="en-US" dirty="0"/>
              <a:t>There was some extra cost during the Research and Development Process of the project as some product was broken or destroyed by failure. And some product was used initially but later discarded. </a:t>
            </a:r>
          </a:p>
          <a:p>
            <a:pPr algn="just"/>
            <a:r>
              <a:rPr lang="en-US" dirty="0"/>
              <a:t>There were also some miscellaneous cost by the associated accessories i.e. soldering, wire, thermal paste, glue gun, etc.</a:t>
            </a:r>
          </a:p>
          <a:p>
            <a:pPr marL="0" indent="0" algn="just">
              <a:buNone/>
            </a:pPr>
            <a:endParaRPr lang="en-US" dirty="0"/>
          </a:p>
          <a:p>
            <a:pPr algn="just"/>
            <a:r>
              <a:rPr lang="en-US" dirty="0"/>
              <a:t>The cost finally comes downs to 10,021/- Taka for a working prototype which very much less than the commercial product (about 1.5 lakh Taka)</a:t>
            </a:r>
          </a:p>
        </p:txBody>
      </p:sp>
    </p:spTree>
    <p:extLst>
      <p:ext uri="{BB962C8B-B14F-4D97-AF65-F5344CB8AC3E}">
        <p14:creationId xmlns:p14="http://schemas.microsoft.com/office/powerpoint/2010/main" val="33843885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22CD53-309A-8CD5-B32F-78055DE553D6}"/>
              </a:ext>
            </a:extLst>
          </p:cNvPr>
          <p:cNvSpPr>
            <a:spLocks noGrp="1"/>
          </p:cNvSpPr>
          <p:nvPr>
            <p:ph idx="1"/>
          </p:nvPr>
        </p:nvSpPr>
        <p:spPr/>
        <p:txBody>
          <a:bodyPr/>
          <a:lstStyle/>
          <a:p>
            <a:r>
              <a:rPr lang="en-US" dirty="0"/>
              <a:t>This product is environment friendly but due to some heating loss it can sum up to global warming</a:t>
            </a:r>
          </a:p>
          <a:p>
            <a:pPr marL="0" indent="0">
              <a:buNone/>
            </a:pPr>
            <a:endParaRPr lang="en-US" dirty="0"/>
          </a:p>
          <a:p>
            <a:r>
              <a:rPr lang="en-US" dirty="0"/>
              <a:t>This product is used by educated scientist with caution and no amount hazard can be caused by it.</a:t>
            </a:r>
          </a:p>
          <a:p>
            <a:pPr marL="0" indent="0">
              <a:buNone/>
            </a:pPr>
            <a:endParaRPr lang="en-US" dirty="0"/>
          </a:p>
          <a:p>
            <a:r>
              <a:rPr lang="en-US" dirty="0"/>
              <a:t> This product mainly needed in biomedical field but its application ultimately benefits all mankind. </a:t>
            </a:r>
          </a:p>
        </p:txBody>
      </p:sp>
      <p:sp>
        <p:nvSpPr>
          <p:cNvPr id="3" name="Title 2">
            <a:extLst>
              <a:ext uri="{FF2B5EF4-FFF2-40B4-BE49-F238E27FC236}">
                <a16:creationId xmlns:a16="http://schemas.microsoft.com/office/drawing/2014/main" id="{7372FC32-FA18-D404-BE6C-4FDB95630690}"/>
              </a:ext>
            </a:extLst>
          </p:cNvPr>
          <p:cNvSpPr>
            <a:spLocks noGrp="1"/>
          </p:cNvSpPr>
          <p:nvPr>
            <p:ph type="title"/>
          </p:nvPr>
        </p:nvSpPr>
        <p:spPr/>
        <p:txBody>
          <a:bodyPr>
            <a:normAutofit/>
          </a:bodyPr>
          <a:lstStyle/>
          <a:p>
            <a:r>
              <a:rPr lang="en-US" dirty="0"/>
              <a:t>5.3 Practical Considerations of the Design</a:t>
            </a:r>
          </a:p>
        </p:txBody>
      </p:sp>
      <p:sp>
        <p:nvSpPr>
          <p:cNvPr id="4" name="Date Placeholder 3">
            <a:extLst>
              <a:ext uri="{FF2B5EF4-FFF2-40B4-BE49-F238E27FC236}">
                <a16:creationId xmlns:a16="http://schemas.microsoft.com/office/drawing/2014/main" id="{0AA410AD-DDA8-A33E-C50B-F5D400C78C1A}"/>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C2A40EEC-7CE4-111F-7355-0A3C58D81727}"/>
              </a:ext>
            </a:extLst>
          </p:cNvPr>
          <p:cNvSpPr>
            <a:spLocks noGrp="1"/>
          </p:cNvSpPr>
          <p:nvPr>
            <p:ph type="ftr" sz="quarter" idx="11"/>
          </p:nvPr>
        </p:nvSpPr>
        <p:spPr/>
        <p:txBody>
          <a:bodyPr/>
          <a:lstStyle/>
          <a:p>
            <a:r>
              <a:rPr lang="en-US" dirty="0"/>
              <a:t>Presented By – </a:t>
            </a:r>
            <a:r>
              <a:rPr lang="en-US" dirty="0" smtClean="0">
                <a:solidFill>
                  <a:srgbClr val="FFFF00"/>
                </a:solidFill>
              </a:rPr>
              <a:t>220021104</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D35087F2-15A3-D440-E996-DD621D1B80A3}"/>
              </a:ext>
            </a:extLst>
          </p:cNvPr>
          <p:cNvSpPr>
            <a:spLocks noGrp="1"/>
          </p:cNvSpPr>
          <p:nvPr>
            <p:ph type="sldNum" sz="quarter" idx="12"/>
          </p:nvPr>
        </p:nvSpPr>
        <p:spPr/>
        <p:txBody>
          <a:bodyPr/>
          <a:lstStyle/>
          <a:p>
            <a:fld id="{1DCA6118-F558-4478-80BF-767359AFE687}" type="slidenum">
              <a:rPr lang="en-US" smtClean="0"/>
              <a:t>21</a:t>
            </a:fld>
            <a:endParaRPr lang="en-US" dirty="0"/>
          </a:p>
        </p:txBody>
      </p:sp>
    </p:spTree>
    <p:extLst>
      <p:ext uri="{BB962C8B-B14F-4D97-AF65-F5344CB8AC3E}">
        <p14:creationId xmlns:p14="http://schemas.microsoft.com/office/powerpoint/2010/main" val="8164319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9CB98A-0BFA-9010-11CF-AE5D29EFCB7A}"/>
              </a:ext>
            </a:extLst>
          </p:cNvPr>
          <p:cNvSpPr>
            <a:spLocks noGrp="1"/>
          </p:cNvSpPr>
          <p:nvPr>
            <p:ph idx="1"/>
          </p:nvPr>
        </p:nvSpPr>
        <p:spPr/>
        <p:txBody>
          <a:bodyPr>
            <a:normAutofit fontScale="92500" lnSpcReduction="10000"/>
          </a:bodyPr>
          <a:lstStyle/>
          <a:p>
            <a:pPr marL="0" indent="0">
              <a:buNone/>
            </a:pPr>
            <a:r>
              <a:rPr lang="en-US" b="1" dirty="0"/>
              <a:t>5.4.1 Societal Issues: </a:t>
            </a:r>
            <a:r>
              <a:rPr lang="en-US" dirty="0"/>
              <a:t>PCR technology supports disease diagnosis and public health. A low-cost system can improve accessibility, but inaccurate results may negatively impact patient outcomes.</a:t>
            </a:r>
          </a:p>
          <a:p>
            <a:pPr marL="0" indent="0">
              <a:buNone/>
            </a:pPr>
            <a:r>
              <a:rPr lang="en-US" b="1" dirty="0"/>
              <a:t>5.4.2 Health &amp; Safety Issues: </a:t>
            </a:r>
            <a:r>
              <a:rPr lang="en-US" dirty="0"/>
              <a:t>High operating temperatures and electrical components require proper insulation, grounding and safe handling to prevent burns and electrical hazards.</a:t>
            </a:r>
          </a:p>
          <a:p>
            <a:pPr marL="0" indent="0">
              <a:buNone/>
            </a:pPr>
            <a:r>
              <a:rPr lang="en-US" b="1" dirty="0"/>
              <a:t>5.4.3 Legal Issues: </a:t>
            </a:r>
            <a:r>
              <a:rPr lang="en-US" dirty="0"/>
              <a:t>Clinical use requires regulatory approval, proper calibration, and compliance with medical device standards before deployment.</a:t>
            </a:r>
          </a:p>
          <a:p>
            <a:pPr marL="0" indent="0">
              <a:buNone/>
            </a:pPr>
            <a:r>
              <a:rPr lang="en-US" b="1" dirty="0"/>
              <a:t>5.4.4 Cultural Issues: </a:t>
            </a:r>
            <a:r>
              <a:rPr lang="en-US" dirty="0"/>
              <a:t>Genetic testing may raise ethical and cultural sensitivities; responsible use and proper interpretation of results are essential.</a:t>
            </a:r>
          </a:p>
          <a:p>
            <a:pPr marL="0" indent="0">
              <a:buNone/>
            </a:pPr>
            <a:endParaRPr lang="en-US" dirty="0"/>
          </a:p>
        </p:txBody>
      </p:sp>
      <p:sp>
        <p:nvSpPr>
          <p:cNvPr id="3" name="Title 2">
            <a:extLst>
              <a:ext uri="{FF2B5EF4-FFF2-40B4-BE49-F238E27FC236}">
                <a16:creationId xmlns:a16="http://schemas.microsoft.com/office/drawing/2014/main" id="{F7272290-3965-411B-2974-CD0B1E9D1167}"/>
              </a:ext>
            </a:extLst>
          </p:cNvPr>
          <p:cNvSpPr>
            <a:spLocks noGrp="1"/>
          </p:cNvSpPr>
          <p:nvPr>
            <p:ph type="title"/>
          </p:nvPr>
        </p:nvSpPr>
        <p:spPr/>
        <p:txBody>
          <a:bodyPr>
            <a:normAutofit/>
          </a:bodyPr>
          <a:lstStyle/>
          <a:p>
            <a:r>
              <a:rPr lang="en-US" dirty="0"/>
              <a:t>5.4 Assessment of the Impact of the Project </a:t>
            </a:r>
          </a:p>
        </p:txBody>
      </p:sp>
      <p:sp>
        <p:nvSpPr>
          <p:cNvPr id="4" name="Date Placeholder 3">
            <a:extLst>
              <a:ext uri="{FF2B5EF4-FFF2-40B4-BE49-F238E27FC236}">
                <a16:creationId xmlns:a16="http://schemas.microsoft.com/office/drawing/2014/main" id="{9AEA7450-2045-3CB2-7306-0EC52895185A}"/>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4DA5DDAF-945C-F817-948C-89715F90AE0C}"/>
              </a:ext>
            </a:extLst>
          </p:cNvPr>
          <p:cNvSpPr>
            <a:spLocks noGrp="1"/>
          </p:cNvSpPr>
          <p:nvPr>
            <p:ph type="ftr" sz="quarter" idx="11"/>
          </p:nvPr>
        </p:nvSpPr>
        <p:spPr/>
        <p:txBody>
          <a:bodyPr/>
          <a:lstStyle/>
          <a:p>
            <a:r>
              <a:rPr lang="en-US" dirty="0"/>
              <a:t>Presented By – </a:t>
            </a:r>
            <a:r>
              <a:rPr lang="en-US" dirty="0" smtClean="0">
                <a:solidFill>
                  <a:srgbClr val="FFFF00"/>
                </a:solidFill>
              </a:rPr>
              <a:t>220021104</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CB5D3CF4-FBA9-F03A-1118-73DBC28C3134}"/>
              </a:ext>
            </a:extLst>
          </p:cNvPr>
          <p:cNvSpPr>
            <a:spLocks noGrp="1"/>
          </p:cNvSpPr>
          <p:nvPr>
            <p:ph type="sldNum" sz="quarter" idx="12"/>
          </p:nvPr>
        </p:nvSpPr>
        <p:spPr/>
        <p:txBody>
          <a:bodyPr/>
          <a:lstStyle/>
          <a:p>
            <a:fld id="{1DCA6118-F558-4478-80BF-767359AFE687}" type="slidenum">
              <a:rPr lang="en-US" smtClean="0"/>
              <a:t>22</a:t>
            </a:fld>
            <a:endParaRPr lang="en-US"/>
          </a:p>
        </p:txBody>
      </p:sp>
    </p:spTree>
    <p:extLst>
      <p:ext uri="{BB962C8B-B14F-4D97-AF65-F5344CB8AC3E}">
        <p14:creationId xmlns:p14="http://schemas.microsoft.com/office/powerpoint/2010/main" val="251440249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F6E488-09DE-5742-FF1E-823274E1DB0C}"/>
              </a:ext>
            </a:extLst>
          </p:cNvPr>
          <p:cNvSpPr>
            <a:spLocks noGrp="1"/>
          </p:cNvSpPr>
          <p:nvPr>
            <p:ph idx="1"/>
          </p:nvPr>
        </p:nvSpPr>
        <p:spPr/>
        <p:txBody>
          <a:bodyPr/>
          <a:lstStyle/>
          <a:p>
            <a:pPr marL="0" indent="0">
              <a:buNone/>
            </a:pPr>
            <a:r>
              <a:rPr lang="en-US" b="1" dirty="0"/>
              <a:t>5.5.1 Evaluation of Sustainability: </a:t>
            </a:r>
            <a:r>
              <a:rPr lang="en-US" dirty="0"/>
              <a:t>The prototype uses energy-efficient DC heating and reusable components, reducing operational cost and material waste.</a:t>
            </a:r>
          </a:p>
          <a:p>
            <a:pPr marL="0" indent="0">
              <a:buNone/>
            </a:pPr>
            <a:r>
              <a:rPr lang="en-US" b="1" dirty="0"/>
              <a:t>5.5.2 Impact in Societal Context: </a:t>
            </a:r>
            <a:r>
              <a:rPr lang="en-US" dirty="0"/>
              <a:t>A low-cost PCR system can improve access to diagnostic tools in resource-limited areas, supporting public health and education.</a:t>
            </a:r>
          </a:p>
          <a:p>
            <a:pPr marL="0" indent="0">
              <a:buNone/>
            </a:pPr>
            <a:r>
              <a:rPr lang="en-US" b="1" dirty="0"/>
              <a:t>5.5.3 Impact in Environmental Context: </a:t>
            </a:r>
            <a:r>
              <a:rPr lang="en-US" dirty="0"/>
              <a:t>Design minimizes electronic waste by using standard, replaceable components and avoids excessive energy consumption, reducing environmental footprint.</a:t>
            </a:r>
          </a:p>
        </p:txBody>
      </p:sp>
      <p:sp>
        <p:nvSpPr>
          <p:cNvPr id="3" name="Title 2">
            <a:extLst>
              <a:ext uri="{FF2B5EF4-FFF2-40B4-BE49-F238E27FC236}">
                <a16:creationId xmlns:a16="http://schemas.microsoft.com/office/drawing/2014/main" id="{D75D0E21-9B7F-C2C9-836A-B87A0488C0B9}"/>
              </a:ext>
            </a:extLst>
          </p:cNvPr>
          <p:cNvSpPr>
            <a:spLocks noGrp="1"/>
          </p:cNvSpPr>
          <p:nvPr>
            <p:ph type="title"/>
          </p:nvPr>
        </p:nvSpPr>
        <p:spPr/>
        <p:txBody>
          <a:bodyPr>
            <a:normAutofit/>
          </a:bodyPr>
          <a:lstStyle/>
          <a:p>
            <a:r>
              <a:rPr lang="en-US" dirty="0"/>
              <a:t>5.5 Evaluation of the Sustainability </a:t>
            </a:r>
          </a:p>
        </p:txBody>
      </p:sp>
      <p:sp>
        <p:nvSpPr>
          <p:cNvPr id="4" name="Date Placeholder 3">
            <a:extLst>
              <a:ext uri="{FF2B5EF4-FFF2-40B4-BE49-F238E27FC236}">
                <a16:creationId xmlns:a16="http://schemas.microsoft.com/office/drawing/2014/main" id="{A457D63A-EF99-53B0-9A6C-48C4414D5AAA}"/>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01EA6DAA-9328-E924-F47D-3DD168ED5103}"/>
              </a:ext>
            </a:extLst>
          </p:cNvPr>
          <p:cNvSpPr>
            <a:spLocks noGrp="1"/>
          </p:cNvSpPr>
          <p:nvPr>
            <p:ph type="ftr" sz="quarter" idx="11"/>
          </p:nvPr>
        </p:nvSpPr>
        <p:spPr/>
        <p:txBody>
          <a:bodyPr/>
          <a:lstStyle/>
          <a:p>
            <a:r>
              <a:rPr lang="en-US" dirty="0"/>
              <a:t>Presented By – </a:t>
            </a:r>
            <a:r>
              <a:rPr lang="en-US" dirty="0" smtClean="0">
                <a:solidFill>
                  <a:srgbClr val="FFFF00"/>
                </a:solidFill>
              </a:rPr>
              <a:t>220021104</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B951EC9D-FC5E-0D60-FEC9-9D8B81857581}"/>
              </a:ext>
            </a:extLst>
          </p:cNvPr>
          <p:cNvSpPr>
            <a:spLocks noGrp="1"/>
          </p:cNvSpPr>
          <p:nvPr>
            <p:ph type="sldNum" sz="quarter" idx="12"/>
          </p:nvPr>
        </p:nvSpPr>
        <p:spPr/>
        <p:txBody>
          <a:bodyPr/>
          <a:lstStyle/>
          <a:p>
            <a:fld id="{1DCA6118-F558-4478-80BF-767359AFE687}" type="slidenum">
              <a:rPr lang="en-US" smtClean="0"/>
              <a:t>23</a:t>
            </a:fld>
            <a:endParaRPr lang="en-US"/>
          </a:p>
        </p:txBody>
      </p:sp>
    </p:spTree>
    <p:extLst>
      <p:ext uri="{BB962C8B-B14F-4D97-AF65-F5344CB8AC3E}">
        <p14:creationId xmlns:p14="http://schemas.microsoft.com/office/powerpoint/2010/main" val="13232206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9CF2434C-84A2-4E9F-B15D-02F8E51F30A1}"/>
              </a:ext>
            </a:extLst>
          </p:cNvPr>
          <p:cNvPicPr>
            <a:picLocks noGrp="1" noChangeAspect="1"/>
          </p:cNvPicPr>
          <p:nvPr>
            <p:ph idx="1"/>
          </p:nvPr>
        </p:nvPicPr>
        <p:blipFill>
          <a:blip r:embed="rId2"/>
          <a:stretch>
            <a:fillRect/>
          </a:stretch>
        </p:blipFill>
        <p:spPr>
          <a:xfrm>
            <a:off x="2853763" y="1825625"/>
            <a:ext cx="6484474" cy="4351338"/>
          </a:xfrm>
        </p:spPr>
      </p:pic>
      <p:sp>
        <p:nvSpPr>
          <p:cNvPr id="3" name="Title 2">
            <a:extLst>
              <a:ext uri="{FF2B5EF4-FFF2-40B4-BE49-F238E27FC236}">
                <a16:creationId xmlns:a16="http://schemas.microsoft.com/office/drawing/2014/main" id="{44615FCF-EABC-4E68-B55B-F4169711652E}"/>
              </a:ext>
            </a:extLst>
          </p:cNvPr>
          <p:cNvSpPr>
            <a:spLocks noGrp="1"/>
          </p:cNvSpPr>
          <p:nvPr>
            <p:ph type="title"/>
          </p:nvPr>
        </p:nvSpPr>
        <p:spPr/>
        <p:txBody>
          <a:bodyPr/>
          <a:lstStyle/>
          <a:p>
            <a:r>
              <a:rPr lang="en-US" dirty="0" smtClean="0"/>
              <a:t>5.6 Lab Testing </a:t>
            </a:r>
            <a:r>
              <a:rPr lang="en-US" dirty="0"/>
              <a:t>&amp; Result</a:t>
            </a:r>
          </a:p>
        </p:txBody>
      </p:sp>
      <p:sp>
        <p:nvSpPr>
          <p:cNvPr id="4" name="Date Placeholder 3">
            <a:extLst>
              <a:ext uri="{FF2B5EF4-FFF2-40B4-BE49-F238E27FC236}">
                <a16:creationId xmlns:a16="http://schemas.microsoft.com/office/drawing/2014/main" id="{7468C7F5-6B71-4204-9F00-2557AF743FF9}"/>
              </a:ext>
            </a:extLst>
          </p:cNvPr>
          <p:cNvSpPr>
            <a:spLocks noGrp="1"/>
          </p:cNvSpPr>
          <p:nvPr>
            <p:ph type="dt" sz="half" idx="10"/>
          </p:nvPr>
        </p:nvSpPr>
        <p:spPr/>
        <p:txBody>
          <a:bodyPr/>
          <a:lstStyle/>
          <a:p>
            <a:r>
              <a:rPr lang="en-US"/>
              <a:t>EEE 4518 – Final Project – Cor Machina</a:t>
            </a:r>
            <a:endParaRPr lang="en-US" dirty="0"/>
          </a:p>
        </p:txBody>
      </p:sp>
      <p:sp>
        <p:nvSpPr>
          <p:cNvPr id="5" name="Footer Placeholder 4">
            <a:extLst>
              <a:ext uri="{FF2B5EF4-FFF2-40B4-BE49-F238E27FC236}">
                <a16:creationId xmlns:a16="http://schemas.microsoft.com/office/drawing/2014/main" id="{7D637D10-71D4-461B-9791-FAEFFF7E07ED}"/>
              </a:ext>
            </a:extLst>
          </p:cNvPr>
          <p:cNvSpPr>
            <a:spLocks noGrp="1"/>
          </p:cNvSpPr>
          <p:nvPr>
            <p:ph type="ftr" sz="quarter" idx="11"/>
          </p:nvPr>
        </p:nvSpPr>
        <p:spPr/>
        <p:txBody>
          <a:bodyPr/>
          <a:lstStyle/>
          <a:p>
            <a:r>
              <a:rPr lang="en-US" dirty="0"/>
              <a:t>Presented By – </a:t>
            </a:r>
            <a:r>
              <a:rPr lang="en-US" dirty="0">
                <a:solidFill>
                  <a:srgbClr val="FFFF00"/>
                </a:solidFill>
              </a:rPr>
              <a:t>220021308</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0053AE54-E02F-4610-B383-14C4A9EBFC57}"/>
              </a:ext>
            </a:extLst>
          </p:cNvPr>
          <p:cNvSpPr>
            <a:spLocks noGrp="1"/>
          </p:cNvSpPr>
          <p:nvPr>
            <p:ph type="sldNum" sz="quarter" idx="12"/>
          </p:nvPr>
        </p:nvSpPr>
        <p:spPr/>
        <p:txBody>
          <a:bodyPr/>
          <a:lstStyle/>
          <a:p>
            <a:fld id="{1DCA6118-F558-4478-80BF-767359AFE687}" type="slidenum">
              <a:rPr lang="en-US" smtClean="0"/>
              <a:t>24</a:t>
            </a:fld>
            <a:endParaRPr lang="en-US"/>
          </a:p>
        </p:txBody>
      </p:sp>
    </p:spTree>
    <p:extLst>
      <p:ext uri="{BB962C8B-B14F-4D97-AF65-F5344CB8AC3E}">
        <p14:creationId xmlns:p14="http://schemas.microsoft.com/office/powerpoint/2010/main" val="42552490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E9FC62-3AAC-415A-ABA0-EA27D78DE89D}"/>
              </a:ext>
            </a:extLst>
          </p:cNvPr>
          <p:cNvSpPr>
            <a:spLocks noGrp="1"/>
          </p:cNvSpPr>
          <p:nvPr>
            <p:ph idx="1"/>
          </p:nvPr>
        </p:nvSpPr>
        <p:spPr/>
        <p:txBody>
          <a:bodyPr/>
          <a:lstStyle/>
          <a:p>
            <a:r>
              <a:rPr lang="en-US" dirty="0"/>
              <a:t>The prototype PCR machine successfully amplified DNA, demonstrating that the system is functional.</a:t>
            </a:r>
          </a:p>
          <a:p>
            <a:r>
              <a:rPr lang="en-US" dirty="0"/>
              <a:t>The expected product was 353 bp, but the prototype generated ~100 bp bands, indicating a temperature calibration issue.</a:t>
            </a:r>
          </a:p>
          <a:p>
            <a:r>
              <a:rPr lang="en-US" dirty="0"/>
              <a:t>Band intensity was lower than the commercial system, but no significant non-specific smearing was observed.</a:t>
            </a:r>
          </a:p>
          <a:p>
            <a:r>
              <a:rPr lang="en-US" dirty="0"/>
              <a:t>Cycle completion and repeatability were successful, confirming operational stability.</a:t>
            </a:r>
          </a:p>
          <a:p>
            <a:endParaRPr lang="en-US" dirty="0"/>
          </a:p>
        </p:txBody>
      </p:sp>
      <p:sp>
        <p:nvSpPr>
          <p:cNvPr id="3" name="Title 2">
            <a:extLst>
              <a:ext uri="{FF2B5EF4-FFF2-40B4-BE49-F238E27FC236}">
                <a16:creationId xmlns:a16="http://schemas.microsoft.com/office/drawing/2014/main" id="{2DEF4729-29B1-447A-9962-C5F1B512344B}"/>
              </a:ext>
            </a:extLst>
          </p:cNvPr>
          <p:cNvSpPr>
            <a:spLocks noGrp="1"/>
          </p:cNvSpPr>
          <p:nvPr>
            <p:ph type="title"/>
          </p:nvPr>
        </p:nvSpPr>
        <p:spPr/>
        <p:txBody>
          <a:bodyPr/>
          <a:lstStyle/>
          <a:p>
            <a:r>
              <a:rPr lang="en-US" dirty="0" smtClean="0"/>
              <a:t>5.6 About </a:t>
            </a:r>
            <a:r>
              <a:rPr lang="en-US" dirty="0"/>
              <a:t>Result</a:t>
            </a:r>
          </a:p>
        </p:txBody>
      </p:sp>
      <p:sp>
        <p:nvSpPr>
          <p:cNvPr id="4" name="Date Placeholder 3">
            <a:extLst>
              <a:ext uri="{FF2B5EF4-FFF2-40B4-BE49-F238E27FC236}">
                <a16:creationId xmlns:a16="http://schemas.microsoft.com/office/drawing/2014/main" id="{5487A249-332A-40F1-8263-62A3ACB33C61}"/>
              </a:ext>
            </a:extLst>
          </p:cNvPr>
          <p:cNvSpPr>
            <a:spLocks noGrp="1"/>
          </p:cNvSpPr>
          <p:nvPr>
            <p:ph type="dt" sz="half" idx="10"/>
          </p:nvPr>
        </p:nvSpPr>
        <p:spPr/>
        <p:txBody>
          <a:bodyPr/>
          <a:lstStyle/>
          <a:p>
            <a:r>
              <a:rPr lang="en-US"/>
              <a:t>EEE 4518 – Final Project – Cor Machina</a:t>
            </a:r>
            <a:endParaRPr lang="en-US" dirty="0"/>
          </a:p>
        </p:txBody>
      </p:sp>
      <p:sp>
        <p:nvSpPr>
          <p:cNvPr id="5" name="Footer Placeholder 4">
            <a:extLst>
              <a:ext uri="{FF2B5EF4-FFF2-40B4-BE49-F238E27FC236}">
                <a16:creationId xmlns:a16="http://schemas.microsoft.com/office/drawing/2014/main" id="{FCA8223F-5E01-40D6-A2B9-8C0AF27AC5CA}"/>
              </a:ext>
            </a:extLst>
          </p:cNvPr>
          <p:cNvSpPr>
            <a:spLocks noGrp="1"/>
          </p:cNvSpPr>
          <p:nvPr>
            <p:ph type="ftr" sz="quarter" idx="11"/>
          </p:nvPr>
        </p:nvSpPr>
        <p:spPr/>
        <p:txBody>
          <a:bodyPr/>
          <a:lstStyle/>
          <a:p>
            <a:r>
              <a:rPr lang="en-US"/>
              <a:t>Presented By – </a:t>
            </a:r>
            <a:r>
              <a:rPr lang="en-US">
                <a:solidFill>
                  <a:srgbClr val="FFFF00"/>
                </a:solidFill>
              </a:rPr>
              <a:t>220021308</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DF1B0089-40DD-4562-8F3C-D37FC26E0D87}"/>
              </a:ext>
            </a:extLst>
          </p:cNvPr>
          <p:cNvSpPr>
            <a:spLocks noGrp="1"/>
          </p:cNvSpPr>
          <p:nvPr>
            <p:ph type="sldNum" sz="quarter" idx="12"/>
          </p:nvPr>
        </p:nvSpPr>
        <p:spPr/>
        <p:txBody>
          <a:bodyPr/>
          <a:lstStyle/>
          <a:p>
            <a:fld id="{1DCA6118-F558-4478-80BF-767359AFE687}" type="slidenum">
              <a:rPr lang="en-US" smtClean="0"/>
              <a:t>25</a:t>
            </a:fld>
            <a:endParaRPr lang="en-US"/>
          </a:p>
        </p:txBody>
      </p:sp>
    </p:spTree>
    <p:extLst>
      <p:ext uri="{BB962C8B-B14F-4D97-AF65-F5344CB8AC3E}">
        <p14:creationId xmlns:p14="http://schemas.microsoft.com/office/powerpoint/2010/main" val="6289449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1E18F9-DF10-DA2E-35D3-9F1DA702A931}"/>
              </a:ext>
            </a:extLst>
          </p:cNvPr>
          <p:cNvSpPr>
            <a:spLocks noGrp="1"/>
          </p:cNvSpPr>
          <p:nvPr>
            <p:ph idx="1"/>
          </p:nvPr>
        </p:nvSpPr>
        <p:spPr/>
        <p:txBody>
          <a:bodyPr/>
          <a:lstStyle/>
          <a:p>
            <a:pPr marL="0" indent="0">
              <a:buNone/>
            </a:pPr>
            <a:r>
              <a:rPr lang="en-US" dirty="0"/>
              <a:t>6.1  Individual Contribution of Each Member</a:t>
            </a:r>
          </a:p>
          <a:p>
            <a:pPr marL="0" indent="0">
              <a:buNone/>
            </a:pPr>
            <a:r>
              <a:rPr lang="en-US" dirty="0"/>
              <a:t>6.2  Mode of </a:t>
            </a:r>
            <a:r>
              <a:rPr lang="en-US" dirty="0" smtClean="0"/>
              <a:t>Team Work</a:t>
            </a:r>
            <a:endParaRPr lang="en-US" dirty="0"/>
          </a:p>
          <a:p>
            <a:pPr marL="0" indent="0">
              <a:buNone/>
            </a:pPr>
            <a:r>
              <a:rPr lang="en-US" dirty="0"/>
              <a:t>6.3  Diversity Statement of Team</a:t>
            </a:r>
          </a:p>
          <a:p>
            <a:pPr marL="0" indent="0">
              <a:buNone/>
            </a:pPr>
            <a:r>
              <a:rPr lang="en-US" dirty="0"/>
              <a:t>6.4  Log Book of Project </a:t>
            </a:r>
            <a:r>
              <a:rPr lang="en-US" dirty="0" smtClean="0"/>
              <a:t>Implementation</a:t>
            </a:r>
            <a:endParaRPr lang="en-US" dirty="0"/>
          </a:p>
          <a:p>
            <a:endParaRPr lang="en-US" dirty="0"/>
          </a:p>
        </p:txBody>
      </p:sp>
      <p:sp>
        <p:nvSpPr>
          <p:cNvPr id="3" name="Title 2">
            <a:extLst>
              <a:ext uri="{FF2B5EF4-FFF2-40B4-BE49-F238E27FC236}">
                <a16:creationId xmlns:a16="http://schemas.microsoft.com/office/drawing/2014/main" id="{DC389A38-B066-BAD2-E217-411F4960478F}"/>
              </a:ext>
            </a:extLst>
          </p:cNvPr>
          <p:cNvSpPr>
            <a:spLocks noGrp="1"/>
          </p:cNvSpPr>
          <p:nvPr>
            <p:ph type="title"/>
          </p:nvPr>
        </p:nvSpPr>
        <p:spPr/>
        <p:txBody>
          <a:bodyPr>
            <a:normAutofit/>
          </a:bodyPr>
          <a:lstStyle/>
          <a:p>
            <a:r>
              <a:rPr lang="en-US" dirty="0"/>
              <a:t>6. Reflection on Individual and Team work </a:t>
            </a:r>
          </a:p>
        </p:txBody>
      </p:sp>
      <p:sp>
        <p:nvSpPr>
          <p:cNvPr id="4" name="Date Placeholder 3">
            <a:extLst>
              <a:ext uri="{FF2B5EF4-FFF2-40B4-BE49-F238E27FC236}">
                <a16:creationId xmlns:a16="http://schemas.microsoft.com/office/drawing/2014/main" id="{2005F2D0-0689-B77E-745C-1D0B3FBDC8C0}"/>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5CB3236A-3B2E-3AE7-6CBD-B7C335E6435C}"/>
              </a:ext>
            </a:extLst>
          </p:cNvPr>
          <p:cNvSpPr>
            <a:spLocks noGrp="1"/>
          </p:cNvSpPr>
          <p:nvPr>
            <p:ph type="ftr" sz="quarter" idx="11"/>
          </p:nvPr>
        </p:nvSpPr>
        <p:spPr/>
        <p:txBody>
          <a:bodyPr/>
          <a:lstStyle/>
          <a:p>
            <a:r>
              <a:rPr lang="en-US" dirty="0"/>
              <a:t>Presented By – </a:t>
            </a:r>
            <a:r>
              <a:rPr lang="en-US" dirty="0" smtClean="0">
                <a:solidFill>
                  <a:srgbClr val="FFFF00"/>
                </a:solidFill>
              </a:rPr>
              <a:t>220021116</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02BA22CD-D946-CD33-784C-3A08E4C408C0}"/>
              </a:ext>
            </a:extLst>
          </p:cNvPr>
          <p:cNvSpPr>
            <a:spLocks noGrp="1"/>
          </p:cNvSpPr>
          <p:nvPr>
            <p:ph type="sldNum" sz="quarter" idx="12"/>
          </p:nvPr>
        </p:nvSpPr>
        <p:spPr/>
        <p:txBody>
          <a:bodyPr/>
          <a:lstStyle/>
          <a:p>
            <a:fld id="{1DCA6118-F558-4478-80BF-767359AFE687}" type="slidenum">
              <a:rPr lang="en-US" smtClean="0"/>
              <a:t>26</a:t>
            </a:fld>
            <a:endParaRPr lang="en-US"/>
          </a:p>
        </p:txBody>
      </p:sp>
    </p:spTree>
    <p:extLst>
      <p:ext uri="{BB962C8B-B14F-4D97-AF65-F5344CB8AC3E}">
        <p14:creationId xmlns:p14="http://schemas.microsoft.com/office/powerpoint/2010/main" val="213771495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C97456-B237-A316-8AEE-F6BF2B72AA60}"/>
              </a:ext>
            </a:extLst>
          </p:cNvPr>
          <p:cNvSpPr>
            <a:spLocks noGrp="1"/>
          </p:cNvSpPr>
          <p:nvPr>
            <p:ph type="title"/>
          </p:nvPr>
        </p:nvSpPr>
        <p:spPr/>
        <p:txBody>
          <a:bodyPr>
            <a:normAutofit/>
          </a:bodyPr>
          <a:lstStyle/>
          <a:p>
            <a:r>
              <a:rPr lang="en-US" dirty="0"/>
              <a:t>6.1 Individual Contribution of Each Member</a:t>
            </a:r>
          </a:p>
        </p:txBody>
      </p:sp>
      <p:sp>
        <p:nvSpPr>
          <p:cNvPr id="4" name="Date Placeholder 3">
            <a:extLst>
              <a:ext uri="{FF2B5EF4-FFF2-40B4-BE49-F238E27FC236}">
                <a16:creationId xmlns:a16="http://schemas.microsoft.com/office/drawing/2014/main" id="{F411582A-5A72-E45F-8696-3E9EAA74C186}"/>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47BDA164-332F-55FA-09A3-18738B9CEAF5}"/>
              </a:ext>
            </a:extLst>
          </p:cNvPr>
          <p:cNvSpPr>
            <a:spLocks noGrp="1"/>
          </p:cNvSpPr>
          <p:nvPr>
            <p:ph type="ftr" sz="quarter" idx="11"/>
          </p:nvPr>
        </p:nvSpPr>
        <p:spPr/>
        <p:txBody>
          <a:bodyPr/>
          <a:lstStyle/>
          <a:p>
            <a:r>
              <a:rPr lang="en-US" dirty="0"/>
              <a:t>Presented By – </a:t>
            </a:r>
            <a:r>
              <a:rPr lang="en-US" dirty="0" smtClean="0">
                <a:solidFill>
                  <a:srgbClr val="FFFF00"/>
                </a:solidFill>
              </a:rPr>
              <a:t>220021116</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0664F67A-4819-A073-3567-562F0B272651}"/>
              </a:ext>
            </a:extLst>
          </p:cNvPr>
          <p:cNvSpPr>
            <a:spLocks noGrp="1"/>
          </p:cNvSpPr>
          <p:nvPr>
            <p:ph type="sldNum" sz="quarter" idx="12"/>
          </p:nvPr>
        </p:nvSpPr>
        <p:spPr/>
        <p:txBody>
          <a:bodyPr/>
          <a:lstStyle/>
          <a:p>
            <a:fld id="{1DCA6118-F558-4478-80BF-767359AFE687}" type="slidenum">
              <a:rPr lang="en-US" smtClean="0"/>
              <a:t>27</a:t>
            </a:fld>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969223806"/>
              </p:ext>
            </p:extLst>
          </p:nvPr>
        </p:nvGraphicFramePr>
        <p:xfrm>
          <a:off x="944880" y="1749346"/>
          <a:ext cx="10302240" cy="4031631"/>
        </p:xfrm>
        <a:graphic>
          <a:graphicData uri="http://schemas.openxmlformats.org/drawingml/2006/table">
            <a:tbl>
              <a:tblPr firstRow="1" bandRow="1">
                <a:tableStyleId>{5C22544A-7EE6-4342-B048-85BDC9FD1C3A}</a:tableStyleId>
              </a:tblPr>
              <a:tblGrid>
                <a:gridCol w="1778000">
                  <a:extLst>
                    <a:ext uri="{9D8B030D-6E8A-4147-A177-3AD203B41FA5}">
                      <a16:colId xmlns:a16="http://schemas.microsoft.com/office/drawing/2014/main" val="2355843685"/>
                    </a:ext>
                  </a:extLst>
                </a:gridCol>
                <a:gridCol w="8524240">
                  <a:extLst>
                    <a:ext uri="{9D8B030D-6E8A-4147-A177-3AD203B41FA5}">
                      <a16:colId xmlns:a16="http://schemas.microsoft.com/office/drawing/2014/main" val="78997848"/>
                    </a:ext>
                  </a:extLst>
                </a:gridCol>
              </a:tblGrid>
              <a:tr h="653966">
                <a:tc>
                  <a:txBody>
                    <a:bodyPr/>
                    <a:lstStyle/>
                    <a:p>
                      <a:r>
                        <a:rPr lang="en-US" dirty="0" smtClean="0"/>
                        <a:t>ID</a:t>
                      </a:r>
                      <a:endParaRPr lang="en-US" dirty="0"/>
                    </a:p>
                  </a:txBody>
                  <a:tcPr/>
                </a:tc>
                <a:tc>
                  <a:txBody>
                    <a:bodyPr/>
                    <a:lstStyle/>
                    <a:p>
                      <a:r>
                        <a:rPr lang="en-US" dirty="0" smtClean="0"/>
                        <a:t>Contribution</a:t>
                      </a:r>
                      <a:endParaRPr lang="en-US" dirty="0"/>
                    </a:p>
                  </a:txBody>
                  <a:tcPr/>
                </a:tc>
                <a:extLst>
                  <a:ext uri="{0D108BD9-81ED-4DB2-BD59-A6C34878D82A}">
                    <a16:rowId xmlns:a16="http://schemas.microsoft.com/office/drawing/2014/main" val="3933336070"/>
                  </a:ext>
                </a:extLst>
              </a:tr>
              <a:tr h="703349">
                <a:tc>
                  <a:txBody>
                    <a:bodyPr/>
                    <a:lstStyle/>
                    <a:p>
                      <a:r>
                        <a:rPr lang="en-US" dirty="0" smtClean="0"/>
                        <a:t>220021308</a:t>
                      </a:r>
                      <a:endParaRPr lang="en-US" dirty="0"/>
                    </a:p>
                  </a:txBody>
                  <a:tcPr/>
                </a:tc>
                <a:tc>
                  <a:txBody>
                    <a:bodyPr/>
                    <a:lstStyle/>
                    <a:p>
                      <a:r>
                        <a:rPr lang="en-GB" dirty="0" smtClean="0"/>
                        <a:t>Design and construction of the Aluminium block, Design and implementation of the power supply circuit,</a:t>
                      </a:r>
                      <a:r>
                        <a:rPr lang="en-GB" baseline="0" dirty="0" smtClean="0"/>
                        <a:t> </a:t>
                      </a:r>
                      <a:r>
                        <a:rPr lang="en-US" dirty="0" smtClean="0"/>
                        <a:t>electrical soldering, Liaison to biomedical</a:t>
                      </a:r>
                      <a:r>
                        <a:rPr lang="en-US" baseline="0" dirty="0" smtClean="0"/>
                        <a:t> lab, final testing</a:t>
                      </a:r>
                      <a:r>
                        <a:rPr lang="en-US" dirty="0" smtClean="0"/>
                        <a:t>. </a:t>
                      </a:r>
                      <a:endParaRPr lang="en-US" dirty="0"/>
                    </a:p>
                  </a:txBody>
                  <a:tcPr/>
                </a:tc>
                <a:extLst>
                  <a:ext uri="{0D108BD9-81ED-4DB2-BD59-A6C34878D82A}">
                    <a16:rowId xmlns:a16="http://schemas.microsoft.com/office/drawing/2014/main" val="483959464"/>
                  </a:ext>
                </a:extLst>
              </a:tr>
              <a:tr h="668579">
                <a:tc>
                  <a:txBody>
                    <a:bodyPr/>
                    <a:lstStyle/>
                    <a:p>
                      <a:r>
                        <a:rPr lang="en-US" dirty="0" smtClean="0"/>
                        <a:t>220021115</a:t>
                      </a:r>
                      <a:endParaRPr lang="en-US" dirty="0"/>
                    </a:p>
                  </a:txBody>
                  <a:tcPr/>
                </a:tc>
                <a:tc>
                  <a:txBody>
                    <a:bodyPr/>
                    <a:lstStyle/>
                    <a:p>
                      <a:r>
                        <a:rPr lang="en-US" dirty="0" smtClean="0"/>
                        <a:t>Design of the Hardware Setup</a:t>
                      </a:r>
                      <a:r>
                        <a:rPr lang="en-US" baseline="0" dirty="0" smtClean="0"/>
                        <a:t> and the control circuit, Software logic and algorithm development, final testing.</a:t>
                      </a:r>
                      <a:endParaRPr lang="en-US" dirty="0"/>
                    </a:p>
                  </a:txBody>
                  <a:tcPr/>
                </a:tc>
                <a:extLst>
                  <a:ext uri="{0D108BD9-81ED-4DB2-BD59-A6C34878D82A}">
                    <a16:rowId xmlns:a16="http://schemas.microsoft.com/office/drawing/2014/main" val="2573683472"/>
                  </a:ext>
                </a:extLst>
              </a:tr>
              <a:tr h="668579">
                <a:tc>
                  <a:txBody>
                    <a:bodyPr/>
                    <a:lstStyle/>
                    <a:p>
                      <a:r>
                        <a:rPr lang="en-US" dirty="0" smtClean="0"/>
                        <a:t>220021104</a:t>
                      </a:r>
                      <a:endParaRPr lang="en-US" dirty="0"/>
                    </a:p>
                  </a:txBody>
                  <a:tcPr/>
                </a:tc>
                <a:tc>
                  <a:txBody>
                    <a:bodyPr/>
                    <a:lstStyle/>
                    <a:p>
                      <a:r>
                        <a:rPr lang="en-US" dirty="0" smtClean="0"/>
                        <a:t>Collection of materials, </a:t>
                      </a:r>
                      <a:r>
                        <a:rPr lang="en-US" baseline="0" dirty="0" smtClean="0"/>
                        <a:t>construction of</a:t>
                      </a:r>
                      <a:r>
                        <a:rPr lang="en-US" dirty="0" smtClean="0"/>
                        <a:t> the setup </a:t>
                      </a:r>
                      <a:r>
                        <a:rPr lang="en-US" baseline="0" dirty="0" smtClean="0"/>
                        <a:t>and the control circuit</a:t>
                      </a:r>
                      <a:r>
                        <a:rPr lang="en-US" dirty="0" smtClean="0"/>
                        <a:t>, research</a:t>
                      </a:r>
                      <a:r>
                        <a:rPr lang="en-US" baseline="0" dirty="0" smtClean="0"/>
                        <a:t> and </a:t>
                      </a:r>
                      <a:r>
                        <a:rPr lang="en-US" dirty="0" smtClean="0"/>
                        <a:t>calculations of parameters, </a:t>
                      </a:r>
                      <a:r>
                        <a:rPr lang="en-US" baseline="0" dirty="0" smtClean="0"/>
                        <a:t>final testing</a:t>
                      </a:r>
                      <a:r>
                        <a:rPr lang="en-US" dirty="0" smtClean="0"/>
                        <a:t>.</a:t>
                      </a:r>
                      <a:endParaRPr lang="en-US" dirty="0"/>
                    </a:p>
                  </a:txBody>
                  <a:tcPr/>
                </a:tc>
                <a:extLst>
                  <a:ext uri="{0D108BD9-81ED-4DB2-BD59-A6C34878D82A}">
                    <a16:rowId xmlns:a16="http://schemas.microsoft.com/office/drawing/2014/main" val="989618804"/>
                  </a:ext>
                </a:extLst>
              </a:tr>
              <a:tr h="668579">
                <a:tc>
                  <a:txBody>
                    <a:bodyPr/>
                    <a:lstStyle/>
                    <a:p>
                      <a:r>
                        <a:rPr lang="en-US" dirty="0" smtClean="0"/>
                        <a:t>220021116</a:t>
                      </a:r>
                      <a:endParaRPr lang="en-US" dirty="0"/>
                    </a:p>
                  </a:txBody>
                  <a:tcPr/>
                </a:tc>
                <a:tc>
                  <a:txBody>
                    <a:bodyPr/>
                    <a:lstStyle/>
                    <a:p>
                      <a:r>
                        <a:rPr lang="en-US" dirty="0" smtClean="0"/>
                        <a:t>Documentation and presentation, </a:t>
                      </a:r>
                      <a:r>
                        <a:rPr lang="en-US" baseline="0" dirty="0" smtClean="0"/>
                        <a:t>construction of</a:t>
                      </a:r>
                      <a:r>
                        <a:rPr lang="en-US" dirty="0" smtClean="0"/>
                        <a:t> the setup </a:t>
                      </a:r>
                      <a:r>
                        <a:rPr lang="en-US" baseline="0" dirty="0" smtClean="0"/>
                        <a:t>and the control circuit</a:t>
                      </a:r>
                      <a:r>
                        <a:rPr lang="en-US" dirty="0" smtClean="0"/>
                        <a:t>, debugging and optimization, </a:t>
                      </a:r>
                      <a:r>
                        <a:rPr lang="en-US" baseline="0" dirty="0" smtClean="0"/>
                        <a:t>final testing</a:t>
                      </a:r>
                      <a:r>
                        <a:rPr lang="en-US" dirty="0" smtClean="0"/>
                        <a:t>.</a:t>
                      </a:r>
                      <a:endParaRPr lang="en-US" dirty="0"/>
                    </a:p>
                  </a:txBody>
                  <a:tcPr/>
                </a:tc>
                <a:extLst>
                  <a:ext uri="{0D108BD9-81ED-4DB2-BD59-A6C34878D82A}">
                    <a16:rowId xmlns:a16="http://schemas.microsoft.com/office/drawing/2014/main" val="87764362"/>
                  </a:ext>
                </a:extLst>
              </a:tr>
              <a:tr h="668579">
                <a:tc>
                  <a:txBody>
                    <a:bodyPr/>
                    <a:lstStyle/>
                    <a:p>
                      <a:r>
                        <a:rPr lang="en-US" dirty="0" smtClean="0"/>
                        <a:t>220021152</a:t>
                      </a:r>
                      <a:endParaRPr lang="en-US" dirty="0"/>
                    </a:p>
                  </a:txBody>
                  <a:tcPr/>
                </a:tc>
                <a:tc>
                  <a:txBody>
                    <a:bodyPr/>
                    <a:lstStyle/>
                    <a:p>
                      <a:r>
                        <a:rPr lang="en-GB" dirty="0" smtClean="0"/>
                        <a:t>Design and implementation of the power supply circuit</a:t>
                      </a:r>
                      <a:r>
                        <a:rPr lang="en-US" dirty="0" smtClean="0"/>
                        <a:t>,</a:t>
                      </a:r>
                      <a:r>
                        <a:rPr lang="en-US" baseline="0" dirty="0" smtClean="0"/>
                        <a:t> construction of</a:t>
                      </a:r>
                      <a:r>
                        <a:rPr lang="en-US" dirty="0" smtClean="0"/>
                        <a:t> the setup </a:t>
                      </a:r>
                      <a:r>
                        <a:rPr lang="en-US" baseline="0" dirty="0" smtClean="0"/>
                        <a:t>and the control circuit, </a:t>
                      </a:r>
                      <a:r>
                        <a:rPr lang="en-US" dirty="0" smtClean="0"/>
                        <a:t>management and budget, </a:t>
                      </a:r>
                      <a:r>
                        <a:rPr lang="en-US" baseline="0" dirty="0" smtClean="0"/>
                        <a:t>final testing</a:t>
                      </a:r>
                      <a:r>
                        <a:rPr lang="en-US" dirty="0" smtClean="0"/>
                        <a:t>.</a:t>
                      </a:r>
                      <a:endParaRPr lang="en-US" dirty="0"/>
                    </a:p>
                  </a:txBody>
                  <a:tcPr/>
                </a:tc>
                <a:extLst>
                  <a:ext uri="{0D108BD9-81ED-4DB2-BD59-A6C34878D82A}">
                    <a16:rowId xmlns:a16="http://schemas.microsoft.com/office/drawing/2014/main" val="2021115682"/>
                  </a:ext>
                </a:extLst>
              </a:tr>
            </a:tbl>
          </a:graphicData>
        </a:graphic>
      </p:graphicFrame>
    </p:spTree>
    <p:extLst>
      <p:ext uri="{BB962C8B-B14F-4D97-AF65-F5344CB8AC3E}">
        <p14:creationId xmlns:p14="http://schemas.microsoft.com/office/powerpoint/2010/main" val="12951894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3717AE-F26B-178B-EEB6-776906E50AE7}"/>
              </a:ext>
            </a:extLst>
          </p:cNvPr>
          <p:cNvSpPr>
            <a:spLocks noGrp="1"/>
          </p:cNvSpPr>
          <p:nvPr>
            <p:ph idx="1"/>
          </p:nvPr>
        </p:nvSpPr>
        <p:spPr>
          <a:xfrm>
            <a:off x="599440" y="1513841"/>
            <a:ext cx="10754360" cy="2852102"/>
          </a:xfrm>
        </p:spPr>
        <p:txBody>
          <a:bodyPr>
            <a:normAutofit/>
          </a:bodyPr>
          <a:lstStyle/>
          <a:p>
            <a:r>
              <a:rPr lang="en-GB" sz="1600" dirty="0" smtClean="0"/>
              <a:t>Our team has people from many different skills. Some of us have better understanding of the electrical components and connections, others have a better understanding for the logic and software. Many aspects of the project would not work without the research and understanding of the process from all of our team members</a:t>
            </a:r>
            <a:r>
              <a:rPr lang="en-GB" sz="1600" dirty="0" smtClean="0"/>
              <a:t>.</a:t>
            </a:r>
            <a:endParaRPr lang="en-GB" sz="1600" dirty="0"/>
          </a:p>
          <a:p>
            <a:r>
              <a:rPr lang="en-GB" sz="1600" dirty="0" smtClean="0"/>
              <a:t>Though there ere a few hurdles in the way we successfully completed th</a:t>
            </a:r>
            <a:r>
              <a:rPr lang="en-GB" sz="1600" dirty="0" smtClean="0"/>
              <a:t>e device as we wanted </a:t>
            </a:r>
          </a:p>
          <a:p>
            <a:r>
              <a:rPr lang="en-GB" sz="1600" dirty="0" smtClean="0"/>
              <a:t>In the end we had fun working with each other specially with the fact that testing this machine </a:t>
            </a:r>
          </a:p>
          <a:p>
            <a:pPr marL="0" indent="0">
              <a:buNone/>
            </a:pPr>
            <a:r>
              <a:rPr lang="en-GB" sz="1600" dirty="0"/>
              <a:t>r</a:t>
            </a:r>
            <a:r>
              <a:rPr lang="en-GB" sz="1600" dirty="0" smtClean="0"/>
              <a:t>equires us to wat a long time.</a:t>
            </a:r>
            <a:endParaRPr lang="en-GB" sz="1600" dirty="0" smtClean="0"/>
          </a:p>
        </p:txBody>
      </p:sp>
      <p:sp>
        <p:nvSpPr>
          <p:cNvPr id="3" name="Title 2">
            <a:extLst>
              <a:ext uri="{FF2B5EF4-FFF2-40B4-BE49-F238E27FC236}">
                <a16:creationId xmlns:a16="http://schemas.microsoft.com/office/drawing/2014/main" id="{8B03F235-64B9-9EDB-4185-21D9E401D2CE}"/>
              </a:ext>
            </a:extLst>
          </p:cNvPr>
          <p:cNvSpPr>
            <a:spLocks noGrp="1"/>
          </p:cNvSpPr>
          <p:nvPr>
            <p:ph type="title"/>
          </p:nvPr>
        </p:nvSpPr>
        <p:spPr/>
        <p:txBody>
          <a:bodyPr/>
          <a:lstStyle/>
          <a:p>
            <a:r>
              <a:rPr lang="en-US" dirty="0"/>
              <a:t>6.2 Mode of Team Work and Diversity</a:t>
            </a:r>
          </a:p>
        </p:txBody>
      </p:sp>
      <p:sp>
        <p:nvSpPr>
          <p:cNvPr id="4" name="Date Placeholder 3">
            <a:extLst>
              <a:ext uri="{FF2B5EF4-FFF2-40B4-BE49-F238E27FC236}">
                <a16:creationId xmlns:a16="http://schemas.microsoft.com/office/drawing/2014/main" id="{D9085298-EBDA-069C-ED27-FEA0E63AE943}"/>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1B44C4EC-166B-CB85-EE00-E055D678BE69}"/>
              </a:ext>
            </a:extLst>
          </p:cNvPr>
          <p:cNvSpPr>
            <a:spLocks noGrp="1"/>
          </p:cNvSpPr>
          <p:nvPr>
            <p:ph type="ftr" sz="quarter" idx="11"/>
          </p:nvPr>
        </p:nvSpPr>
        <p:spPr/>
        <p:txBody>
          <a:bodyPr/>
          <a:lstStyle/>
          <a:p>
            <a:r>
              <a:rPr lang="en-US" dirty="0"/>
              <a:t>Presented By – </a:t>
            </a:r>
            <a:r>
              <a:rPr lang="en-US" dirty="0" smtClean="0">
                <a:solidFill>
                  <a:srgbClr val="FFFF00"/>
                </a:solidFill>
              </a:rPr>
              <a:t>220021115</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51DF1FC9-5EE9-D3B3-A84A-86C347CFD09A}"/>
              </a:ext>
            </a:extLst>
          </p:cNvPr>
          <p:cNvSpPr>
            <a:spLocks noGrp="1"/>
          </p:cNvSpPr>
          <p:nvPr>
            <p:ph type="sldNum" sz="quarter" idx="12"/>
          </p:nvPr>
        </p:nvSpPr>
        <p:spPr/>
        <p:txBody>
          <a:bodyPr/>
          <a:lstStyle/>
          <a:p>
            <a:fld id="{1DCA6118-F558-4478-80BF-767359AFE687}" type="slidenum">
              <a:rPr lang="en-US" smtClean="0"/>
              <a:t>28</a:t>
            </a:fld>
            <a:endParaRPr lang="en-US"/>
          </a:p>
        </p:txBody>
      </p:sp>
      <p:grpSp>
        <p:nvGrpSpPr>
          <p:cNvPr id="27" name="Group 26"/>
          <p:cNvGrpSpPr/>
          <p:nvPr/>
        </p:nvGrpSpPr>
        <p:grpSpPr>
          <a:xfrm>
            <a:off x="8728195" y="2018511"/>
            <a:ext cx="2829832" cy="2363125"/>
            <a:chOff x="4380190" y="2423862"/>
            <a:chExt cx="3226621" cy="2699278"/>
          </a:xfrm>
        </p:grpSpPr>
        <p:grpSp>
          <p:nvGrpSpPr>
            <p:cNvPr id="24" name="Group 23"/>
            <p:cNvGrpSpPr/>
            <p:nvPr/>
          </p:nvGrpSpPr>
          <p:grpSpPr>
            <a:xfrm>
              <a:off x="4380190" y="2423862"/>
              <a:ext cx="3226621" cy="2699278"/>
              <a:chOff x="4535179" y="2398095"/>
              <a:chExt cx="3226621" cy="2699278"/>
            </a:xfrm>
          </p:grpSpPr>
          <p:pic>
            <p:nvPicPr>
              <p:cNvPr id="15" name="Picture 14"/>
              <p:cNvPicPr>
                <a:picLocks noChangeAspect="1"/>
              </p:cNvPicPr>
              <p:nvPr/>
            </p:nvPicPr>
            <p:blipFill>
              <a:blip r:embed="rId2"/>
              <a:stretch>
                <a:fillRect/>
              </a:stretch>
            </p:blipFill>
            <p:spPr>
              <a:xfrm>
                <a:off x="4535179" y="2398095"/>
                <a:ext cx="3226621" cy="2699278"/>
              </a:xfrm>
              <a:prstGeom prst="rect">
                <a:avLst/>
              </a:prstGeom>
            </p:spPr>
          </p:pic>
          <p:sp>
            <p:nvSpPr>
              <p:cNvPr id="18" name="Rectangle 17"/>
              <p:cNvSpPr/>
              <p:nvPr/>
            </p:nvSpPr>
            <p:spPr>
              <a:xfrm>
                <a:off x="5281670" y="3419211"/>
                <a:ext cx="1902785" cy="4400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extBox 18"/>
            <p:cNvSpPr txBox="1"/>
            <p:nvPr/>
          </p:nvSpPr>
          <p:spPr>
            <a:xfrm flipH="1">
              <a:off x="5229354" y="3430910"/>
              <a:ext cx="2376457" cy="369332"/>
            </a:xfrm>
            <a:prstGeom prst="rect">
              <a:avLst/>
            </a:prstGeom>
            <a:noFill/>
          </p:spPr>
          <p:txBody>
            <a:bodyPr wrap="square" rtlCol="0">
              <a:spAutoFit/>
            </a:bodyPr>
            <a:lstStyle/>
            <a:p>
              <a:r>
                <a:rPr lang="en-US" dirty="0" smtClean="0"/>
                <a:t>Testing the PCR</a:t>
              </a:r>
              <a:endParaRPr lang="en-US" dirty="0"/>
            </a:p>
          </p:txBody>
        </p:sp>
      </p:grpSp>
      <p:pic>
        <p:nvPicPr>
          <p:cNvPr id="23" name="Picture 22"/>
          <p:cNvPicPr>
            <a:picLocks noChangeAspect="1"/>
          </p:cNvPicPr>
          <p:nvPr/>
        </p:nvPicPr>
        <p:blipFill>
          <a:blip r:embed="rId3"/>
          <a:stretch>
            <a:fillRect/>
          </a:stretch>
        </p:blipFill>
        <p:spPr>
          <a:xfrm>
            <a:off x="8610600" y="4397330"/>
            <a:ext cx="3125352" cy="1927633"/>
          </a:xfrm>
          <a:prstGeom prst="rect">
            <a:avLst/>
          </a:prstGeom>
        </p:spPr>
      </p:pic>
      <p:grpSp>
        <p:nvGrpSpPr>
          <p:cNvPr id="28" name="Group 27"/>
          <p:cNvGrpSpPr/>
          <p:nvPr/>
        </p:nvGrpSpPr>
        <p:grpSpPr>
          <a:xfrm>
            <a:off x="799848" y="3681095"/>
            <a:ext cx="3810002" cy="2363996"/>
            <a:chOff x="426720" y="3516341"/>
            <a:chExt cx="3810002" cy="2363996"/>
          </a:xfrm>
        </p:grpSpPr>
        <p:grpSp>
          <p:nvGrpSpPr>
            <p:cNvPr id="20" name="Group 19"/>
            <p:cNvGrpSpPr/>
            <p:nvPr/>
          </p:nvGrpSpPr>
          <p:grpSpPr>
            <a:xfrm>
              <a:off x="599440" y="3516341"/>
              <a:ext cx="3637282" cy="2363996"/>
              <a:chOff x="802638" y="2555557"/>
              <a:chExt cx="4105277" cy="3209925"/>
            </a:xfrm>
          </p:grpSpPr>
          <p:grpSp>
            <p:nvGrpSpPr>
              <p:cNvPr id="11" name="Group 10"/>
              <p:cNvGrpSpPr/>
              <p:nvPr/>
            </p:nvGrpSpPr>
            <p:grpSpPr>
              <a:xfrm>
                <a:off x="964565" y="2555557"/>
                <a:ext cx="3943350" cy="3209925"/>
                <a:chOff x="1116965" y="2596197"/>
                <a:chExt cx="3943350" cy="3209925"/>
              </a:xfrm>
            </p:grpSpPr>
            <p:pic>
              <p:nvPicPr>
                <p:cNvPr id="8" name="Picture 7"/>
                <p:cNvPicPr>
                  <a:picLocks noChangeAspect="1"/>
                </p:cNvPicPr>
                <p:nvPr/>
              </p:nvPicPr>
              <p:blipFill>
                <a:blip r:embed="rId4"/>
                <a:stretch>
                  <a:fillRect/>
                </a:stretch>
              </p:blipFill>
              <p:spPr>
                <a:xfrm>
                  <a:off x="1116965" y="2596197"/>
                  <a:ext cx="3943350" cy="3209925"/>
                </a:xfrm>
                <a:prstGeom prst="rect">
                  <a:avLst/>
                </a:prstGeom>
              </p:spPr>
            </p:pic>
            <p:sp>
              <p:nvSpPr>
                <p:cNvPr id="9" name="Rectangle 8"/>
                <p:cNvSpPr/>
                <p:nvPr/>
              </p:nvSpPr>
              <p:spPr>
                <a:xfrm>
                  <a:off x="1259840" y="2834640"/>
                  <a:ext cx="1442720" cy="8940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16965" y="4499292"/>
                  <a:ext cx="1829435" cy="8940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p:cNvSpPr txBox="1"/>
              <p:nvPr/>
            </p:nvSpPr>
            <p:spPr>
              <a:xfrm>
                <a:off x="802638" y="3176230"/>
                <a:ext cx="1955801" cy="646331"/>
              </a:xfrm>
              <a:prstGeom prst="rect">
                <a:avLst/>
              </a:prstGeom>
              <a:noFill/>
            </p:spPr>
            <p:txBody>
              <a:bodyPr wrap="square" rtlCol="0">
                <a:spAutoFit/>
              </a:bodyPr>
              <a:lstStyle/>
              <a:p>
                <a:r>
                  <a:rPr lang="en-US" dirty="0" smtClean="0"/>
                  <a:t>Making the PCR machine</a:t>
                </a:r>
                <a:endParaRPr lang="en-US" dirty="0"/>
              </a:p>
            </p:txBody>
          </p:sp>
          <p:sp>
            <p:nvSpPr>
              <p:cNvPr id="17" name="Rectangle 16"/>
              <p:cNvSpPr/>
              <p:nvPr/>
            </p:nvSpPr>
            <p:spPr>
              <a:xfrm>
                <a:off x="838199" y="3725862"/>
                <a:ext cx="2067561" cy="6400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5" name="Picture 24"/>
            <p:cNvPicPr>
              <a:picLocks noChangeAspect="1"/>
            </p:cNvPicPr>
            <p:nvPr/>
          </p:nvPicPr>
          <p:blipFill rotWithShape="1">
            <a:blip r:embed="rId5"/>
            <a:srcRect l="22138"/>
            <a:stretch/>
          </p:blipFill>
          <p:spPr>
            <a:xfrm>
              <a:off x="426720" y="4427567"/>
              <a:ext cx="2036090" cy="1452770"/>
            </a:xfrm>
            <a:prstGeom prst="rect">
              <a:avLst/>
            </a:prstGeom>
          </p:spPr>
        </p:pic>
      </p:grpSp>
    </p:spTree>
    <p:extLst>
      <p:ext uri="{BB962C8B-B14F-4D97-AF65-F5344CB8AC3E}">
        <p14:creationId xmlns:p14="http://schemas.microsoft.com/office/powerpoint/2010/main" val="231394550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9F1500-B80B-2318-B24F-ED98213DC5FE}"/>
              </a:ext>
            </a:extLst>
          </p:cNvPr>
          <p:cNvSpPr>
            <a:spLocks noGrp="1"/>
          </p:cNvSpPr>
          <p:nvPr>
            <p:ph idx="1"/>
          </p:nvPr>
        </p:nvSpPr>
        <p:spPr>
          <a:xfrm>
            <a:off x="772128" y="1435261"/>
            <a:ext cx="10647744" cy="4811150"/>
          </a:xfrm>
        </p:spPr>
        <p:txBody>
          <a:bodyPr>
            <a:normAutofit fontScale="55000" lnSpcReduction="20000"/>
          </a:bodyPr>
          <a:lstStyle/>
          <a:p>
            <a:r>
              <a:rPr lang="en-US" b="1" dirty="0"/>
              <a:t>Research &amp; Planning</a:t>
            </a:r>
            <a:r>
              <a:rPr lang="en-US" dirty="0"/>
              <a:t> (Studied PCR thermal cycling principles, analyzed temperature requirements, selected core components such as SMPS, thermocouple, resistive heaters, and Arduino platform)</a:t>
            </a:r>
          </a:p>
          <a:p>
            <a:r>
              <a:rPr lang="en-US" b="1" dirty="0"/>
              <a:t>System Design</a:t>
            </a:r>
            <a:r>
              <a:rPr lang="en-US" dirty="0"/>
              <a:t> (Designed aluminum heating block, developed temperature control logic, planned AC-based initial power configuration)</a:t>
            </a:r>
          </a:p>
          <a:p>
            <a:r>
              <a:rPr lang="en-US" b="1" dirty="0"/>
              <a:t>Implementation</a:t>
            </a:r>
            <a:r>
              <a:rPr lang="en-US" dirty="0"/>
              <a:t> (Integrated resistive heating elements, embedded thermocouple, assembled SMPS power supply, programmed thermal cycling parameters)</a:t>
            </a:r>
          </a:p>
          <a:p>
            <a:r>
              <a:rPr lang="en-US" b="1" dirty="0"/>
              <a:t>Problem: Temperature Instability</a:t>
            </a:r>
            <a:r>
              <a:rPr lang="en-US" dirty="0"/>
              <a:t> (Observed unstable temperature control in AC-based system leading to conversion to fully DC operation for improved stability)</a:t>
            </a:r>
          </a:p>
          <a:p>
            <a:r>
              <a:rPr lang="en-US" b="1" dirty="0"/>
              <a:t>Problem: SMPS Failure</a:t>
            </a:r>
            <a:r>
              <a:rPr lang="en-US" dirty="0"/>
              <a:t> (Accidentally damaged initial SMPS during early testing due to inexperience, replaced with new unit and implemented safer power-up procedure)</a:t>
            </a:r>
          </a:p>
          <a:p>
            <a:r>
              <a:rPr lang="en-US" b="1" dirty="0"/>
              <a:t>Problem: Thermocouple Inaccuracy</a:t>
            </a:r>
            <a:r>
              <a:rPr lang="en-US" dirty="0"/>
              <a:t> (Detected deviation in temperature readings, performed calibration and offset correction for improved measurement accuracy</a:t>
            </a:r>
            <a:r>
              <a:rPr lang="en-US" dirty="0" smtClean="0"/>
              <a:t>)</a:t>
            </a:r>
          </a:p>
          <a:p>
            <a:r>
              <a:rPr lang="en-US" b="1" dirty="0"/>
              <a:t>Problem: </a:t>
            </a:r>
            <a:r>
              <a:rPr lang="en-US" b="1" dirty="0" smtClean="0"/>
              <a:t>Resistance issues </a:t>
            </a:r>
            <a:r>
              <a:rPr lang="en-US" dirty="0" smtClean="0"/>
              <a:t>(During testing many resistances got damaged due to thermal and mechanical distress, they had to be replaced with other value resistances)</a:t>
            </a:r>
            <a:endParaRPr lang="en-US" dirty="0"/>
          </a:p>
          <a:p>
            <a:r>
              <a:rPr lang="en-US" b="1" dirty="0"/>
              <a:t>Debugging &amp; Optimization</a:t>
            </a:r>
            <a:r>
              <a:rPr lang="en-US" dirty="0"/>
              <a:t> (Performed repeated temperature validation tests, tuned control parameters, improved thermal contact and heat transfer efficiency))</a:t>
            </a:r>
          </a:p>
          <a:p>
            <a:r>
              <a:rPr lang="en-US" b="1" dirty="0"/>
              <a:t>Testing &amp; Evaluation</a:t>
            </a:r>
            <a:r>
              <a:rPr lang="en-US" dirty="0"/>
              <a:t> (Conducted 35-cycle PCR test, performed gel electrophoresis comparison, analyzed amplification deviation and system performance metrics)</a:t>
            </a:r>
          </a:p>
          <a:p>
            <a:r>
              <a:rPr lang="en-US" b="1" dirty="0"/>
              <a:t>Laboratory Validation</a:t>
            </a:r>
            <a:r>
              <a:rPr lang="en-US" dirty="0"/>
              <a:t> (Tested prototype under real laboratory conditions to assess repeatability, thermal accuracy, and practical usability)</a:t>
            </a:r>
          </a:p>
        </p:txBody>
      </p:sp>
      <p:sp>
        <p:nvSpPr>
          <p:cNvPr id="3" name="Title 2">
            <a:extLst>
              <a:ext uri="{FF2B5EF4-FFF2-40B4-BE49-F238E27FC236}">
                <a16:creationId xmlns:a16="http://schemas.microsoft.com/office/drawing/2014/main" id="{9F699FE1-BC9C-729E-27BF-296DA7EB6173}"/>
              </a:ext>
            </a:extLst>
          </p:cNvPr>
          <p:cNvSpPr>
            <a:spLocks noGrp="1"/>
          </p:cNvSpPr>
          <p:nvPr>
            <p:ph type="title"/>
          </p:nvPr>
        </p:nvSpPr>
        <p:spPr/>
        <p:txBody>
          <a:bodyPr/>
          <a:lstStyle/>
          <a:p>
            <a:r>
              <a:rPr lang="en-US" dirty="0"/>
              <a:t>6.3 Logbook of Project</a:t>
            </a:r>
          </a:p>
        </p:txBody>
      </p:sp>
      <p:sp>
        <p:nvSpPr>
          <p:cNvPr id="4" name="Date Placeholder 3">
            <a:extLst>
              <a:ext uri="{FF2B5EF4-FFF2-40B4-BE49-F238E27FC236}">
                <a16:creationId xmlns:a16="http://schemas.microsoft.com/office/drawing/2014/main" id="{55E85D72-A440-0E1D-5F26-70CDA3B77D5A}"/>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EB438641-761A-18CA-20AC-7B4BF14905FD}"/>
              </a:ext>
            </a:extLst>
          </p:cNvPr>
          <p:cNvSpPr>
            <a:spLocks noGrp="1"/>
          </p:cNvSpPr>
          <p:nvPr>
            <p:ph type="ftr" sz="quarter" idx="11"/>
          </p:nvPr>
        </p:nvSpPr>
        <p:spPr/>
        <p:txBody>
          <a:bodyPr/>
          <a:lstStyle/>
          <a:p>
            <a:r>
              <a:rPr lang="en-US" dirty="0"/>
              <a:t>Presented By – </a:t>
            </a:r>
            <a:r>
              <a:rPr lang="en-US" dirty="0" smtClean="0">
                <a:solidFill>
                  <a:srgbClr val="FFFF00"/>
                </a:solidFill>
              </a:rPr>
              <a:t>220021116</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845813B7-5797-F249-795B-211629DA1B35}"/>
              </a:ext>
            </a:extLst>
          </p:cNvPr>
          <p:cNvSpPr>
            <a:spLocks noGrp="1"/>
          </p:cNvSpPr>
          <p:nvPr>
            <p:ph type="sldNum" sz="quarter" idx="12"/>
          </p:nvPr>
        </p:nvSpPr>
        <p:spPr/>
        <p:txBody>
          <a:bodyPr/>
          <a:lstStyle/>
          <a:p>
            <a:fld id="{1DCA6118-F558-4478-80BF-767359AFE687}" type="slidenum">
              <a:rPr lang="en-US" smtClean="0"/>
              <a:t>29</a:t>
            </a:fld>
            <a:endParaRPr lang="en-US" dirty="0"/>
          </a:p>
        </p:txBody>
      </p:sp>
    </p:spTree>
    <p:extLst>
      <p:ext uri="{BB962C8B-B14F-4D97-AF65-F5344CB8AC3E}">
        <p14:creationId xmlns:p14="http://schemas.microsoft.com/office/powerpoint/2010/main" val="7787642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DB5B22-2016-B3BE-27AF-6178F48FE55D}"/>
              </a:ext>
            </a:extLst>
          </p:cNvPr>
          <p:cNvSpPr>
            <a:spLocks noGrp="1"/>
          </p:cNvSpPr>
          <p:nvPr>
            <p:ph idx="1"/>
          </p:nvPr>
        </p:nvSpPr>
        <p:spPr/>
        <p:txBody>
          <a:bodyPr/>
          <a:lstStyle/>
          <a:p>
            <a:r>
              <a:rPr lang="en-US" sz="1800" u="sng" dirty="0">
                <a:solidFill>
                  <a:srgbClr val="0000FF"/>
                </a:solidFill>
                <a:effectLst/>
                <a:latin typeface="Arial" panose="020B0604020202020204" pitchFamily="34" charset="0"/>
                <a:ea typeface="Arial" panose="020B0604020202020204" pitchFamily="34" charset="0"/>
                <a:hlinkClick r:id="rId2"/>
              </a:rPr>
              <a:t>https://www.instructables.com/Arduino-PCR-thermal-cycler-for-under-85/</a:t>
            </a:r>
            <a:endParaRPr lang="en-US" sz="1800" dirty="0">
              <a:effectLst/>
              <a:latin typeface="Arial" panose="020B0604020202020204" pitchFamily="34" charset="0"/>
              <a:ea typeface="Arial" panose="020B0604020202020204" pitchFamily="34" charset="0"/>
            </a:endParaRPr>
          </a:p>
          <a:p>
            <a:r>
              <a:rPr lang="en-US" sz="1800" u="sng" dirty="0">
                <a:solidFill>
                  <a:srgbClr val="0000FF"/>
                </a:solidFill>
                <a:effectLst/>
                <a:latin typeface="Arial" panose="020B0604020202020204" pitchFamily="34" charset="0"/>
                <a:ea typeface="Arial" panose="020B0604020202020204" pitchFamily="34" charset="0"/>
                <a:hlinkClick r:id="rId3"/>
              </a:rPr>
              <a:t>https://pmc.ncbi.nlm.nih.gov/articles/PMC10021165/</a:t>
            </a:r>
            <a:endParaRPr lang="en-US" sz="1800" dirty="0">
              <a:effectLst/>
              <a:latin typeface="Arial" panose="020B0604020202020204" pitchFamily="34" charset="0"/>
              <a:ea typeface="Arial" panose="020B0604020202020204" pitchFamily="34" charset="0"/>
            </a:endParaRPr>
          </a:p>
          <a:p>
            <a:r>
              <a:rPr lang="en-US" sz="1800" u="sng" dirty="0">
                <a:solidFill>
                  <a:srgbClr val="0000FF"/>
                </a:solidFill>
                <a:effectLst/>
                <a:latin typeface="Arial" panose="020B0604020202020204" pitchFamily="34" charset="0"/>
                <a:ea typeface="Arial" panose="020B0604020202020204" pitchFamily="34" charset="0"/>
                <a:hlinkClick r:id="rId4"/>
              </a:rPr>
              <a:t>https://www.labmanager.com/understanding-thermal-cyclers-an-introduction-and-overview-31635</a:t>
            </a:r>
            <a:endParaRPr lang="en-US" sz="1800" dirty="0">
              <a:effectLst/>
              <a:latin typeface="Arial" panose="020B0604020202020204" pitchFamily="34" charset="0"/>
              <a:ea typeface="Arial" panose="020B0604020202020204" pitchFamily="34" charset="0"/>
            </a:endParaRPr>
          </a:p>
          <a:p>
            <a:endParaRPr lang="en-US" dirty="0"/>
          </a:p>
        </p:txBody>
      </p:sp>
      <p:sp>
        <p:nvSpPr>
          <p:cNvPr id="3" name="Title 2">
            <a:extLst>
              <a:ext uri="{FF2B5EF4-FFF2-40B4-BE49-F238E27FC236}">
                <a16:creationId xmlns:a16="http://schemas.microsoft.com/office/drawing/2014/main" id="{2534F06D-1EB0-3BC5-9A8F-389D654107FC}"/>
              </a:ext>
            </a:extLst>
          </p:cNvPr>
          <p:cNvSpPr>
            <a:spLocks noGrp="1"/>
          </p:cNvSpPr>
          <p:nvPr>
            <p:ph type="title"/>
          </p:nvPr>
        </p:nvSpPr>
        <p:spPr/>
        <p:txBody>
          <a:bodyPr/>
          <a:lstStyle/>
          <a:p>
            <a:r>
              <a:rPr lang="en-US" dirty="0"/>
              <a:t>7. References</a:t>
            </a:r>
          </a:p>
        </p:txBody>
      </p:sp>
      <p:sp>
        <p:nvSpPr>
          <p:cNvPr id="4" name="Date Placeholder 3">
            <a:extLst>
              <a:ext uri="{FF2B5EF4-FFF2-40B4-BE49-F238E27FC236}">
                <a16:creationId xmlns:a16="http://schemas.microsoft.com/office/drawing/2014/main" id="{E6F16E52-604C-C706-B36C-853F4C9D67A1}"/>
              </a:ext>
            </a:extLst>
          </p:cNvPr>
          <p:cNvSpPr>
            <a:spLocks noGrp="1"/>
          </p:cNvSpPr>
          <p:nvPr>
            <p:ph type="dt" sz="half" idx="10"/>
          </p:nvPr>
        </p:nvSpPr>
        <p:spPr/>
        <p:txBody>
          <a:bodyPr/>
          <a:lstStyle/>
          <a:p>
            <a:r>
              <a:rPr lang="en-US" dirty="0"/>
              <a:t>EEE 4518 – Final Project – Cor Machina</a:t>
            </a:r>
          </a:p>
        </p:txBody>
      </p:sp>
      <p:sp>
        <p:nvSpPr>
          <p:cNvPr id="5" name="Footer Placeholder 4">
            <a:extLst>
              <a:ext uri="{FF2B5EF4-FFF2-40B4-BE49-F238E27FC236}">
                <a16:creationId xmlns:a16="http://schemas.microsoft.com/office/drawing/2014/main" id="{71EA75BD-F6CA-6C11-F5B6-1901EBD7ABC5}"/>
              </a:ext>
            </a:extLst>
          </p:cNvPr>
          <p:cNvSpPr>
            <a:spLocks noGrp="1"/>
          </p:cNvSpPr>
          <p:nvPr>
            <p:ph type="ftr" sz="quarter" idx="11"/>
          </p:nvPr>
        </p:nvSpPr>
        <p:spPr/>
        <p:txBody>
          <a:bodyPr/>
          <a:lstStyle/>
          <a:p>
            <a:r>
              <a:rPr lang="en-US" dirty="0"/>
              <a:t>Presented By – </a:t>
            </a:r>
            <a:r>
              <a:rPr lang="en-US" dirty="0" smtClean="0">
                <a:solidFill>
                  <a:srgbClr val="FFFF00"/>
                </a:solidFill>
              </a:rPr>
              <a:t>220021116</a:t>
            </a:r>
            <a:endParaRPr lang="en-US" sz="2400" dirty="0">
              <a:solidFill>
                <a:srgbClr val="FFFF00"/>
              </a:solidFill>
            </a:endParaRPr>
          </a:p>
        </p:txBody>
      </p:sp>
      <p:sp>
        <p:nvSpPr>
          <p:cNvPr id="6" name="Slide Number Placeholder 5">
            <a:extLst>
              <a:ext uri="{FF2B5EF4-FFF2-40B4-BE49-F238E27FC236}">
                <a16:creationId xmlns:a16="http://schemas.microsoft.com/office/drawing/2014/main" id="{42FF373E-03DB-DC74-3936-E8ABDF07A2E3}"/>
              </a:ext>
            </a:extLst>
          </p:cNvPr>
          <p:cNvSpPr>
            <a:spLocks noGrp="1"/>
          </p:cNvSpPr>
          <p:nvPr>
            <p:ph type="sldNum" sz="quarter" idx="12"/>
          </p:nvPr>
        </p:nvSpPr>
        <p:spPr/>
        <p:txBody>
          <a:bodyPr/>
          <a:lstStyle/>
          <a:p>
            <a:fld id="{1DCA6118-F558-4478-80BF-767359AFE687}" type="slidenum">
              <a:rPr lang="en-US" smtClean="0"/>
              <a:t>30</a:t>
            </a:fld>
            <a:endParaRPr lang="en-US"/>
          </a:p>
        </p:txBody>
      </p:sp>
    </p:spTree>
    <p:extLst>
      <p:ext uri="{BB962C8B-B14F-4D97-AF65-F5344CB8AC3E}">
        <p14:creationId xmlns:p14="http://schemas.microsoft.com/office/powerpoint/2010/main" val="318660351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492</TotalTime>
  <Words>1888</Words>
  <Application>Microsoft Office PowerPoint</Application>
  <PresentationFormat>Widescreen</PresentationFormat>
  <Paragraphs>294</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Cambria</vt:lpstr>
      <vt:lpstr>Garamond</vt:lpstr>
      <vt:lpstr>Google Sans</vt:lpstr>
      <vt:lpstr>Times New Roman</vt:lpstr>
      <vt:lpstr>Office Theme</vt:lpstr>
      <vt:lpstr>PowerPoint Presentation</vt:lpstr>
      <vt:lpstr>Outline</vt:lpstr>
      <vt:lpstr>1. Abstract</vt:lpstr>
      <vt:lpstr>2. Introduction</vt:lpstr>
      <vt:lpstr>3.1 Design: Methods</vt:lpstr>
      <vt:lpstr>3.1 Design: Methods</vt:lpstr>
      <vt:lpstr>3.1 Design: Methods</vt:lpstr>
      <vt:lpstr>3.1 Design: Methods</vt:lpstr>
      <vt:lpstr>3.1 Design: Methods</vt:lpstr>
      <vt:lpstr>3.1 Design: Methods</vt:lpstr>
      <vt:lpstr>3.2 Design: Circuit Diagram</vt:lpstr>
      <vt:lpstr>3.4 Hardware Design of the Prototype</vt:lpstr>
      <vt:lpstr>4. Implementation : Demonstration </vt:lpstr>
      <vt:lpstr>4.1 Implementation: Photo Gallery</vt:lpstr>
      <vt:lpstr>4.2 Implementation: External Links</vt:lpstr>
      <vt:lpstr>5. Analysis and Evaluation</vt:lpstr>
      <vt:lpstr>5.1 Novelty</vt:lpstr>
      <vt:lpstr>5.2 Project Management and Cost Analysis</vt:lpstr>
      <vt:lpstr>5.2 Project Management and Cost Analysis</vt:lpstr>
      <vt:lpstr>5.2 Project Management and Cost Analysis</vt:lpstr>
      <vt:lpstr>5.3 Practical Considerations of the Design</vt:lpstr>
      <vt:lpstr>5.4 Assessment of the Impact of the Project </vt:lpstr>
      <vt:lpstr>5.5 Evaluation of the Sustainability </vt:lpstr>
      <vt:lpstr>5.6 Lab Testing &amp; Result</vt:lpstr>
      <vt:lpstr>5.6 About Result</vt:lpstr>
      <vt:lpstr>6. Reflection on Individual and Team work </vt:lpstr>
      <vt:lpstr>6.1 Individual Contribution of Each Member</vt:lpstr>
      <vt:lpstr>6.2 Mode of Team Work and Diversity</vt:lpstr>
      <vt:lpstr>6.3 Logbook of Project</vt:lpstr>
      <vt:lpstr>7.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User</cp:lastModifiedBy>
  <cp:revision>38</cp:revision>
  <dcterms:modified xsi:type="dcterms:W3CDTF">2026-03-05T05:42:00Z</dcterms:modified>
</cp:coreProperties>
</file>